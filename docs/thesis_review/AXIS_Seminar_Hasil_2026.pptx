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14"/>
  </p:normalViewPr>
  <p:slideViewPr>
    <p:cSldViewPr snapToGrid="0">
      <p:cViewPr varScale="1">
        <p:scale>
          <a:sx n="122" d="100"/>
          <a:sy n="122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6566DD9-5D09-4956-ACAA-BFF53901D3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0050" cy="6858000"/>
          </a:xfrm>
          <a:prstGeom prst="rect">
            <a:avLst/>
          </a:prstGeom>
          <a:solidFill>
            <a:srgbClr val="4F3424"/>
          </a:solidFill>
          <a:ln w="0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D8F0D0-1977-4DD2-AE0B-A8A121D48FAF}"/>
              </a:ext>
            </a:extLst>
          </p:cNvPr>
          <p:cNvSpPr>
            <a:spLocks noGrp="1"/>
          </p:cNvSpPr>
          <p:nvPr/>
        </p:nvSpPr>
        <p:spPr>
          <a:xfrm>
            <a:off x="400050" y="0"/>
            <a:ext cx="95250" cy="6858000"/>
          </a:xfrm>
          <a:prstGeom prst="rect">
            <a:avLst/>
          </a:prstGeom>
          <a:solidFill>
            <a:srgbClr val="8B5438"/>
          </a:solidFill>
          <a:ln w="0">
            <a:solidFill>
              <a:srgbClr val="8B543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5890E1-62FC-4736-855F-64C51FB976C6}"/>
              </a:ext>
            </a:extLst>
          </p:cNvPr>
          <p:cNvSpPr>
            <a:spLocks noGrp="1"/>
          </p:cNvSpPr>
          <p:nvPr/>
        </p:nvSpPr>
        <p:spPr>
          <a:xfrm>
            <a:off x="857250" y="685800"/>
            <a:ext cx="428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05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SEMINAR HASIL TUGAS AKHIR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93E5A-20E7-411C-988D-15290CFB6B97}"/>
              </a:ext>
            </a:extLst>
          </p:cNvPr>
          <p:cNvSpPr>
            <a:spLocks noGrp="1"/>
          </p:cNvSpPr>
          <p:nvPr/>
        </p:nvSpPr>
        <p:spPr>
          <a:xfrm>
            <a:off x="857250" y="1162050"/>
            <a:ext cx="39052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43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AXIS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71D228-AD89-434E-B87A-D464A554FAD7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690562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202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2025" b="1" dirty="0" err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Pengembangan</a:t>
            </a:r>
            <a:r>
              <a:rPr sz="2025" b="1" dirty="0">
                <a:solidFill>
                  <a:srgbClr val="2D2119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2D2119"/>
                </a:solidFill>
                <a:latin typeface="Arial"/>
                <a:ea typeface="Arial"/>
                <a:cs typeface="Arial"/>
              </a:rPr>
              <a:t>arsitektur</a:t>
            </a:r>
            <a:r>
              <a:rPr sz="2025" b="1" dirty="0">
                <a:solidFill>
                  <a:srgbClr val="2D2119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perangkat</a:t>
            </a:r>
            <a:r>
              <a:rPr sz="2025" b="1" dirty="0">
                <a:solidFill>
                  <a:srgbClr val="2D2119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2D2119"/>
                </a:solidFill>
                <a:latin typeface="Arial"/>
                <a:ea typeface="Arial"/>
                <a:cs typeface="Arial"/>
              </a:rPr>
              <a:t>lunak</a:t>
            </a:r>
            <a:r>
              <a:rPr sz="2025" b="1" dirty="0">
                <a:solidFill>
                  <a:srgbClr val="2D2119"/>
                </a:solidFill>
                <a:latin typeface="Arial"/>
                <a:ea typeface="Arial"/>
                <a:cs typeface="Arial"/>
              </a:rPr>
              <a:t> companionship chatbot </a:t>
            </a:r>
            <a:r>
              <a:rPr sz="2025" b="1" dirty="0" err="1">
                <a:solidFill>
                  <a:srgbClr val="2D2119"/>
                </a:solidFill>
                <a:latin typeface="Arial"/>
                <a:ea typeface="Arial"/>
                <a:cs typeface="Arial"/>
              </a:rPr>
              <a:t>dengan</a:t>
            </a:r>
            <a:r>
              <a:rPr sz="2025" b="1" dirty="0">
                <a:solidFill>
                  <a:srgbClr val="2D2119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2D2119"/>
                </a:solidFill>
                <a:latin typeface="Arial"/>
                <a:ea typeface="Arial"/>
                <a:cs typeface="Arial"/>
              </a:rPr>
              <a:t>memori</a:t>
            </a:r>
            <a:r>
              <a:rPr sz="2025" b="1" dirty="0">
                <a:solidFill>
                  <a:srgbClr val="2D2119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2D2119"/>
                </a:solidFill>
                <a:latin typeface="Arial"/>
                <a:ea typeface="Arial"/>
                <a:cs typeface="Arial"/>
              </a:rPr>
              <a:t>jangka</a:t>
            </a:r>
            <a:r>
              <a:rPr sz="2025" b="1" dirty="0">
                <a:solidFill>
                  <a:srgbClr val="2D2119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panjang</a:t>
            </a:r>
            <a:r>
              <a:rPr sz="2025" b="1" dirty="0">
                <a:solidFill>
                  <a:srgbClr val="2D2119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2D2119"/>
                </a:solidFill>
                <a:latin typeface="Arial"/>
                <a:ea typeface="Arial"/>
                <a:cs typeface="Arial"/>
              </a:rPr>
              <a:t>berbasis</a:t>
            </a:r>
            <a:r>
              <a:rPr sz="2025" b="1" dirty="0">
                <a:solidFill>
                  <a:srgbClr val="2D2119"/>
                </a:solidFill>
                <a:latin typeface="Arial"/>
                <a:ea typeface="Arial"/>
                <a:cs typeface="Arial"/>
              </a:rPr>
              <a:t> knowledge graph </a:t>
            </a:r>
            <a:r>
              <a:rPr sz="2025" b="1" dirty="0" err="1">
                <a:solidFill>
                  <a:srgbClr val="2D2119"/>
                </a:solidFill>
                <a:latin typeface="Arial"/>
                <a:ea typeface="Arial"/>
                <a:cs typeface="Arial"/>
              </a:rPr>
              <a:t>untuk</a:t>
            </a:r>
            <a:r>
              <a:rPr sz="2025" b="1" dirty="0">
                <a:solidFill>
                  <a:srgbClr val="2D2119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2D2119"/>
                </a:solidFill>
                <a:latin typeface="Arial"/>
                <a:ea typeface="Arial"/>
                <a:cs typeface="Arial"/>
              </a:rPr>
              <a:t>mahasiswa</a:t>
            </a:r>
            <a:r>
              <a:rPr sz="2025" b="1" dirty="0">
                <a:solidFill>
                  <a:srgbClr val="2D2119"/>
                </a:solidFill>
                <a:latin typeface="Arial"/>
                <a:ea typeface="Arial"/>
                <a:cs typeface="Arial"/>
              </a:rPr>
              <a:t> Indonesia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72397FF9-F89E-48D2-BEC5-562483B6C560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6267450" cy="0"/>
          </a:xfrm>
          <a:prstGeom prst="line">
            <a:avLst/>
          </a:prstGeom>
          <a:ln w="28575">
            <a:solidFill>
              <a:srgbClr val="8B543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9BBA6D-2A7A-4E5A-8ED2-87852CB7D10A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5715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Mohammad Nugraha Eka Prawira  |  13522001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DC2122-A0C0-4376-9CD0-CF2EBC8860BB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57150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0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8A7667"/>
                </a:solidFill>
                <a:latin typeface="Arial"/>
                <a:ea typeface="Arial"/>
                <a:cs typeface="Arial"/>
              </a:rPr>
              <a:t>Program Studi Informatika, STEI ITB
Pembimbing: Dr. Agung Dewandaru, S.T., M.Sc.
2026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BE8D1C-C9B9-49AD-999B-5755583F67AD}"/>
              </a:ext>
            </a:extLst>
          </p:cNvPr>
          <p:cNvSpPr>
            <a:spLocks noGrp="1"/>
          </p:cNvSpPr>
          <p:nvPr/>
        </p:nvSpPr>
        <p:spPr>
          <a:xfrm>
            <a:off x="8305800" y="781050"/>
            <a:ext cx="2381250" cy="4191000"/>
          </a:xfrm>
          <a:prstGeom prst="roundRect">
            <a:avLst>
              <a:gd name="adj" fmla="val 3200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07411" y="904875"/>
            <a:ext cx="1778028" cy="38481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A06771C-EFAC-4163-A5AF-29EE629D37D1}"/>
              </a:ext>
            </a:extLst>
          </p:cNvPr>
          <p:cNvSpPr>
            <a:spLocks noGrp="1"/>
          </p:cNvSpPr>
          <p:nvPr/>
        </p:nvSpPr>
        <p:spPr>
          <a:xfrm>
            <a:off x="8334375" y="5048250"/>
            <a:ext cx="23241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Tangkapan antarmuka AXIS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FC63D68-7B0B-4279-9D8A-CFAEBEBFB012}"/>
              </a:ext>
            </a:extLst>
          </p:cNvPr>
          <p:cNvSpPr>
            <a:spLocks noGrp="1"/>
          </p:cNvSpPr>
          <p:nvPr/>
        </p:nvSpPr>
        <p:spPr>
          <a:xfrm>
            <a:off x="8020050" y="5429250"/>
            <a:ext cx="2952750" cy="619125"/>
          </a:xfrm>
          <a:prstGeom prst="roundRect">
            <a:avLst>
              <a:gd name="adj" fmla="val 12308"/>
            </a:avLst>
          </a:prstGeom>
          <a:solidFill>
            <a:srgbClr val="F0DFCF"/>
          </a:solidFill>
          <a:ln w="9525">
            <a:solidFill>
              <a:srgbClr val="F0DF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D7D5E6-A7D6-41B1-AC44-4AF2E2F46F39}"/>
              </a:ext>
            </a:extLst>
          </p:cNvPr>
          <p:cNvSpPr>
            <a:spLocks noGrp="1"/>
          </p:cNvSpPr>
          <p:nvPr/>
        </p:nvSpPr>
        <p:spPr>
          <a:xfrm>
            <a:off x="8153400" y="5619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12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Rancangan, implementasi, dan bukti awal evaluasi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7BF726-0E08-4157-93E6-2128D77B6E69}"/>
              </a:ext>
            </a:extLst>
          </p:cNvPr>
          <p:cNvSpPr>
            <a:spLocks noGrp="1"/>
          </p:cNvSpPr>
          <p:nvPr/>
        </p:nvSpPr>
        <p:spPr>
          <a:xfrm>
            <a:off x="857250" y="634365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7667"/>
                </a:solidFill>
                <a:latin typeface="Arial"/>
                <a:ea typeface="Arial"/>
                <a:cs typeface="Arial"/>
              </a:rPr>
              <a:t>INFORMATIKA  •  STEI ITB</a:t>
            </a:r>
          </a:p>
        </p:txBody>
      </p:sp>
    </p:spTree>
    <p:extLst>
      <p:ext uri="{BB962C8B-B14F-4D97-AF65-F5344CB8AC3E}">
        <p14:creationId xmlns:p14="http://schemas.microsoft.com/office/powerpoint/2010/main" val="13841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E67DF94-0BE4-44CD-A14C-80ED173DD0EF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90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MASALAH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A90D62-E5B9-4EA4-B92C-0B7B33394E31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24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Dukungan yang berkelanjutan, bukan sekadar jawaban satu kali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25CF88A-826F-47DC-A0AC-1DFE2DC48381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8585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6102E3-34BD-458F-9DCF-7235467FE1C5}"/>
              </a:ext>
            </a:extLst>
          </p:cNvPr>
          <p:cNvSpPr>
            <a:spLocks noGrp="1"/>
          </p:cNvSpPr>
          <p:nvPr/>
        </p:nvSpPr>
        <p:spPr>
          <a:xfrm>
            <a:off x="6667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MASALAH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FE28E4D9-2E04-4660-83C2-5FE96A042E77}"/>
              </a:ext>
            </a:extLst>
          </p:cNvPr>
          <p:cNvSpPr>
            <a:spLocks noGrp="1"/>
          </p:cNvSpPr>
          <p:nvPr/>
        </p:nvSpPr>
        <p:spPr>
          <a:xfrm>
            <a:off x="666750" y="6715125"/>
            <a:ext cx="1104900" cy="0"/>
          </a:xfrm>
          <a:prstGeom prst="line">
            <a:avLst/>
          </a:prstGeom>
          <a:ln w="28575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30F12C-F453-42C1-BD18-B77869415254}"/>
              </a:ext>
            </a:extLst>
          </p:cNvPr>
          <p:cNvSpPr>
            <a:spLocks noGrp="1"/>
          </p:cNvSpPr>
          <p:nvPr/>
        </p:nvSpPr>
        <p:spPr>
          <a:xfrm>
            <a:off x="18859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60976B4-71E7-464E-8034-A366842A43C1}"/>
              </a:ext>
            </a:extLst>
          </p:cNvPr>
          <p:cNvSpPr>
            <a:spLocks noGrp="1"/>
          </p:cNvSpPr>
          <p:nvPr/>
        </p:nvSpPr>
        <p:spPr>
          <a:xfrm>
            <a:off x="18859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C21F21-4AA0-42F0-92D5-13EBB11E4B63}"/>
              </a:ext>
            </a:extLst>
          </p:cNvPr>
          <p:cNvSpPr>
            <a:spLocks noGrp="1"/>
          </p:cNvSpPr>
          <p:nvPr/>
        </p:nvSpPr>
        <p:spPr>
          <a:xfrm>
            <a:off x="31051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IMPLEMENTASI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AB9F66D2-20B9-4790-AD03-57A01D688732}"/>
              </a:ext>
            </a:extLst>
          </p:cNvPr>
          <p:cNvSpPr>
            <a:spLocks noGrp="1"/>
          </p:cNvSpPr>
          <p:nvPr/>
        </p:nvSpPr>
        <p:spPr>
          <a:xfrm>
            <a:off x="31051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DCC95A-1B91-4415-8749-EB59D3DD6EB8}"/>
              </a:ext>
            </a:extLst>
          </p:cNvPr>
          <p:cNvSpPr>
            <a:spLocks noGrp="1"/>
          </p:cNvSpPr>
          <p:nvPr/>
        </p:nvSpPr>
        <p:spPr>
          <a:xfrm>
            <a:off x="43243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2B876103-AD59-48F2-9CDF-32C993495782}"/>
              </a:ext>
            </a:extLst>
          </p:cNvPr>
          <p:cNvSpPr>
            <a:spLocks noGrp="1"/>
          </p:cNvSpPr>
          <p:nvPr/>
        </p:nvSpPr>
        <p:spPr>
          <a:xfrm>
            <a:off x="43243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1B130E-D3E1-47A3-AB7A-5409B853CE2D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1AA263-A2FC-48F4-BD23-A0E2C2B2F5EA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57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8A7667"/>
                </a:solidFill>
                <a:latin typeface="Arial"/>
                <a:ea typeface="Arial"/>
                <a:cs typeface="Arial"/>
              </a:rPr>
              <a:t>Mahasiswa membutuhkan ruang percakapan non-klinis yang dapat mengikuti konteks hidupnya tanpa mengambil alih peran tenaga profesional.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D58057F-BCD2-421F-AC73-8BA1A38F4EA9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3190875" cy="1809750"/>
          </a:xfrm>
          <a:prstGeom prst="roundRect">
            <a:avLst>
              <a:gd name="adj" fmla="val 4211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EED4B21-A870-487D-8589-F1993839BD42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4F3424"/>
          </a:solidFill>
          <a:ln w="9525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E83A2C-1A0E-4E53-A6A1-920FBA5256D7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20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82FB53-D1AF-443E-8400-EF635DEA9631}"/>
              </a:ext>
            </a:extLst>
          </p:cNvPr>
          <p:cNvSpPr>
            <a:spLocks noGrp="1"/>
          </p:cNvSpPr>
          <p:nvPr/>
        </p:nvSpPr>
        <p:spPr>
          <a:xfrm>
            <a:off x="1295400" y="2524125"/>
            <a:ext cx="23907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Percakapan mudah terputus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9EEF41-9261-469A-ACAC-54C52916BF9E}"/>
              </a:ext>
            </a:extLst>
          </p:cNvPr>
          <p:cNvSpPr>
            <a:spLocks noGrp="1"/>
          </p:cNvSpPr>
          <p:nvPr/>
        </p:nvSpPr>
        <p:spPr>
          <a:xfrm>
            <a:off x="1290473" y="3014663"/>
            <a:ext cx="239077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0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Chatbot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dapat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memberi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respons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hangat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,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tetapi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konteks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akademik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dan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relasi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penting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sering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harus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diceritakan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ulang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228545D-91F2-4C60-BDED-986BF314DC2F}"/>
              </a:ext>
            </a:extLst>
          </p:cNvPr>
          <p:cNvSpPr>
            <a:spLocks noGrp="1"/>
          </p:cNvSpPr>
          <p:nvPr/>
        </p:nvSpPr>
        <p:spPr>
          <a:xfrm>
            <a:off x="4495800" y="2362200"/>
            <a:ext cx="3190875" cy="1809750"/>
          </a:xfrm>
          <a:prstGeom prst="roundRect">
            <a:avLst>
              <a:gd name="adj" fmla="val 4211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2294E20-29D4-48C5-A3BE-0113E640DCAC}"/>
              </a:ext>
            </a:extLst>
          </p:cNvPr>
          <p:cNvSpPr>
            <a:spLocks noGrp="1"/>
          </p:cNvSpPr>
          <p:nvPr/>
        </p:nvSpPr>
        <p:spPr>
          <a:xfrm>
            <a:off x="4667250" y="25336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8B5438"/>
          </a:solidFill>
          <a:ln w="9525">
            <a:solidFill>
              <a:srgbClr val="8B543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779854-D862-4D97-B8AA-58FA2FA273D2}"/>
              </a:ext>
            </a:extLst>
          </p:cNvPr>
          <p:cNvSpPr>
            <a:spLocks noGrp="1"/>
          </p:cNvSpPr>
          <p:nvPr/>
        </p:nvSpPr>
        <p:spPr>
          <a:xfrm>
            <a:off x="4667250" y="259080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20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1BD191-B920-414E-BD7C-D6220EBA6F95}"/>
              </a:ext>
            </a:extLst>
          </p:cNvPr>
          <p:cNvSpPr>
            <a:spLocks noGrp="1"/>
          </p:cNvSpPr>
          <p:nvPr/>
        </p:nvSpPr>
        <p:spPr>
          <a:xfrm>
            <a:off x="5124450" y="2524125"/>
            <a:ext cx="23907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Refleksi perlu terasa wajar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09E8A4-D3BC-4FA5-BDE7-9C58EE15BD96}"/>
              </a:ext>
            </a:extLst>
          </p:cNvPr>
          <p:cNvSpPr>
            <a:spLocks noGrp="1"/>
          </p:cNvSpPr>
          <p:nvPr/>
        </p:nvSpPr>
        <p:spPr>
          <a:xfrm>
            <a:off x="5124450" y="3014663"/>
            <a:ext cx="239077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0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Pemeriksaan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emosi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tidak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boleh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memutus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percakapan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atau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membuat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pengguna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merasa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sedang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menjalani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proses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klinis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98DEB77-1C07-40B7-BC1F-F9B63E17EE02}"/>
              </a:ext>
            </a:extLst>
          </p:cNvPr>
          <p:cNvSpPr>
            <a:spLocks noGrp="1"/>
          </p:cNvSpPr>
          <p:nvPr/>
        </p:nvSpPr>
        <p:spPr>
          <a:xfrm>
            <a:off x="8324850" y="2362200"/>
            <a:ext cx="3190875" cy="1809750"/>
          </a:xfrm>
          <a:prstGeom prst="roundRect">
            <a:avLst>
              <a:gd name="adj" fmla="val 4211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D946695-5D81-47CA-B442-A018623CC761}"/>
              </a:ext>
            </a:extLst>
          </p:cNvPr>
          <p:cNvSpPr>
            <a:spLocks noGrp="1"/>
          </p:cNvSpPr>
          <p:nvPr/>
        </p:nvSpPr>
        <p:spPr>
          <a:xfrm>
            <a:off x="8496300" y="25336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7A6049"/>
          </a:solidFill>
          <a:ln w="9525">
            <a:solidFill>
              <a:srgbClr val="7A604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6108CC-61C8-4109-818C-CA6DB550E9E0}"/>
              </a:ext>
            </a:extLst>
          </p:cNvPr>
          <p:cNvSpPr>
            <a:spLocks noGrp="1"/>
          </p:cNvSpPr>
          <p:nvPr/>
        </p:nvSpPr>
        <p:spPr>
          <a:xfrm>
            <a:off x="8496300" y="259080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20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9A44B7-8D09-4CB7-BA7E-E61CF3992CE2}"/>
              </a:ext>
            </a:extLst>
          </p:cNvPr>
          <p:cNvSpPr>
            <a:spLocks noGrp="1"/>
          </p:cNvSpPr>
          <p:nvPr/>
        </p:nvSpPr>
        <p:spPr>
          <a:xfrm>
            <a:off x="8953500" y="2524125"/>
            <a:ext cx="23907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Pengguna perlu tetap memegang kendali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E44E74-0152-4380-B1B6-2A729AFE826D}"/>
              </a:ext>
            </a:extLst>
          </p:cNvPr>
          <p:cNvSpPr>
            <a:spLocks noGrp="1"/>
          </p:cNvSpPr>
          <p:nvPr/>
        </p:nvSpPr>
        <p:spPr>
          <a:xfrm>
            <a:off x="8953500" y="3014663"/>
            <a:ext cx="239077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0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Memori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, data, dan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ruang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percakapan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sementara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memerlukan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batas yang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dapat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dipahami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dan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dikendalikan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8A7667"/>
                </a:solidFill>
                <a:latin typeface="Arial"/>
                <a:ea typeface="Arial"/>
                <a:cs typeface="Arial"/>
              </a:rPr>
              <a:t>pengguna</a:t>
            </a:r>
            <a:r>
              <a:rPr sz="1050" dirty="0">
                <a:solidFill>
                  <a:srgbClr val="8A766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20FEF9-0E4E-4A0A-BA3E-E0053D0399F0}"/>
              </a:ext>
            </a:extLst>
          </p:cNvPr>
          <p:cNvSpPr>
            <a:spLocks noGrp="1"/>
          </p:cNvSpPr>
          <p:nvPr/>
        </p:nvSpPr>
        <p:spPr>
          <a:xfrm>
            <a:off x="666750" y="4714875"/>
            <a:ext cx="2952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05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Kesenjangan yang diangkat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95BB60-491E-4ED8-BC4B-DF5525584717}"/>
              </a:ext>
            </a:extLst>
          </p:cNvPr>
          <p:cNvSpPr>
            <a:spLocks noGrp="1"/>
          </p:cNvSpPr>
          <p:nvPr/>
        </p:nvSpPr>
        <p:spPr>
          <a:xfrm>
            <a:off x="666750" y="5029200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80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Sistem yang ada menunjukkan potongan kemampuan, tetapi belum menyatukan percakapan reflektif, skrining ringan, memori relasional, dan kendali pengguna untuk konteks mahasiswa Indonesia.</a:t>
            </a:r>
          </a:p>
        </p:txBody>
      </p:sp>
    </p:spTree>
    <p:extLst>
      <p:ext uri="{BB962C8B-B14F-4D97-AF65-F5344CB8AC3E}">
        <p14:creationId xmlns:p14="http://schemas.microsoft.com/office/powerpoint/2010/main" val="2090870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1927A91A-11A5-4A45-9689-74D2E22D6476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90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MASALAH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796A1C-DDD4-4C43-B8D6-F77FF9D3E63E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24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Tiga pertanyaan yang menjadi jangkar pengembangan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5EDCDA2-89F7-4437-96ED-7BAB8CFD78F7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8585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85BC47-CBE6-4189-A7A2-1198CD06A8D1}"/>
              </a:ext>
            </a:extLst>
          </p:cNvPr>
          <p:cNvSpPr>
            <a:spLocks noGrp="1"/>
          </p:cNvSpPr>
          <p:nvPr/>
        </p:nvSpPr>
        <p:spPr>
          <a:xfrm>
            <a:off x="6667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MASALAH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26B2350F-5BFB-4EA5-91AE-AA80C73FC77C}"/>
              </a:ext>
            </a:extLst>
          </p:cNvPr>
          <p:cNvSpPr>
            <a:spLocks noGrp="1"/>
          </p:cNvSpPr>
          <p:nvPr/>
        </p:nvSpPr>
        <p:spPr>
          <a:xfrm>
            <a:off x="666750" y="6715125"/>
            <a:ext cx="1104900" cy="0"/>
          </a:xfrm>
          <a:prstGeom prst="line">
            <a:avLst/>
          </a:prstGeom>
          <a:ln w="28575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876D4E-0A8F-4C0A-ADC7-B3345C317C4E}"/>
              </a:ext>
            </a:extLst>
          </p:cNvPr>
          <p:cNvSpPr>
            <a:spLocks noGrp="1"/>
          </p:cNvSpPr>
          <p:nvPr/>
        </p:nvSpPr>
        <p:spPr>
          <a:xfrm>
            <a:off x="18859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3F609C8-5B45-48C4-9734-8FCB6E849E26}"/>
              </a:ext>
            </a:extLst>
          </p:cNvPr>
          <p:cNvSpPr>
            <a:spLocks noGrp="1"/>
          </p:cNvSpPr>
          <p:nvPr/>
        </p:nvSpPr>
        <p:spPr>
          <a:xfrm>
            <a:off x="18859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DF4763-B573-48A4-97E8-5E84E61E0DCB}"/>
              </a:ext>
            </a:extLst>
          </p:cNvPr>
          <p:cNvSpPr>
            <a:spLocks noGrp="1"/>
          </p:cNvSpPr>
          <p:nvPr/>
        </p:nvSpPr>
        <p:spPr>
          <a:xfrm>
            <a:off x="31051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IMPLEMENTASI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E84C419B-BD78-4052-84F8-F148CF26AB2F}"/>
              </a:ext>
            </a:extLst>
          </p:cNvPr>
          <p:cNvSpPr>
            <a:spLocks noGrp="1"/>
          </p:cNvSpPr>
          <p:nvPr/>
        </p:nvSpPr>
        <p:spPr>
          <a:xfrm>
            <a:off x="31051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960573-3531-4651-AD72-38926930B12C}"/>
              </a:ext>
            </a:extLst>
          </p:cNvPr>
          <p:cNvSpPr>
            <a:spLocks noGrp="1"/>
          </p:cNvSpPr>
          <p:nvPr/>
        </p:nvSpPr>
        <p:spPr>
          <a:xfrm>
            <a:off x="43243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9023FB6-9FAC-49CB-BB44-D898189D5BE3}"/>
              </a:ext>
            </a:extLst>
          </p:cNvPr>
          <p:cNvSpPr>
            <a:spLocks noGrp="1"/>
          </p:cNvSpPr>
          <p:nvPr/>
        </p:nvSpPr>
        <p:spPr>
          <a:xfrm>
            <a:off x="43243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51AC88-5BCF-45C2-A54A-9A1E6BAAC975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C75EA20-2C3C-4503-A211-BD0F3CAEB286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10810875" cy="1085850"/>
          </a:xfrm>
          <a:prstGeom prst="roundRect">
            <a:avLst>
              <a:gd name="adj" fmla="val 7018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A232443-8C35-40E5-9583-8E891B1CAD8D}"/>
              </a:ext>
            </a:extLst>
          </p:cNvPr>
          <p:cNvSpPr>
            <a:spLocks noGrp="1"/>
          </p:cNvSpPr>
          <p:nvPr/>
        </p:nvSpPr>
        <p:spPr>
          <a:xfrm>
            <a:off x="838200" y="17335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4F3424"/>
          </a:solidFill>
          <a:ln w="9525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6ADC48-07E5-4B08-98FC-5A1F3E47DA2C}"/>
              </a:ext>
            </a:extLst>
          </p:cNvPr>
          <p:cNvSpPr>
            <a:spLocks noGrp="1"/>
          </p:cNvSpPr>
          <p:nvPr/>
        </p:nvSpPr>
        <p:spPr>
          <a:xfrm>
            <a:off x="838200" y="179070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20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RM1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F1BB28-5EEA-4517-A9F2-3AA74FE17848}"/>
              </a:ext>
            </a:extLst>
          </p:cNvPr>
          <p:cNvSpPr>
            <a:spLocks noGrp="1"/>
          </p:cNvSpPr>
          <p:nvPr/>
        </p:nvSpPr>
        <p:spPr>
          <a:xfrm>
            <a:off x="1295400" y="1724025"/>
            <a:ext cx="100107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Percakapan pendamping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EFBA33-2493-4DA6-BF93-61609FAB6332}"/>
              </a:ext>
            </a:extLst>
          </p:cNvPr>
          <p:cNvSpPr>
            <a:spLocks noGrp="1"/>
          </p:cNvSpPr>
          <p:nvPr/>
        </p:nvSpPr>
        <p:spPr>
          <a:xfrm>
            <a:off x="1295400" y="2028825"/>
            <a:ext cx="100107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0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8A7667"/>
                </a:solidFill>
                <a:latin typeface="Arial"/>
                <a:ea typeface="Arial"/>
                <a:cs typeface="Arial"/>
              </a:rPr>
              <a:t>Bagaimana membangun percakapan yang empatik, bermakna, dan aman dalam bahasa informal maupun campuran mahasiswa Indonesia?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1BB1BC4-3B8A-458C-8B2E-897D723E9509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10810875" cy="1085850"/>
          </a:xfrm>
          <a:prstGeom prst="roundRect">
            <a:avLst>
              <a:gd name="adj" fmla="val 7018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8CA428A-0EEA-4FA8-8449-5EF15ED59139}"/>
              </a:ext>
            </a:extLst>
          </p:cNvPr>
          <p:cNvSpPr>
            <a:spLocks noGrp="1"/>
          </p:cNvSpPr>
          <p:nvPr/>
        </p:nvSpPr>
        <p:spPr>
          <a:xfrm>
            <a:off x="838200" y="30480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8B5438"/>
          </a:solidFill>
          <a:ln w="9525">
            <a:solidFill>
              <a:srgbClr val="8B543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F89846-0CAC-4B61-A80A-33AC032A1678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20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RM2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66EE7D-3002-4182-A199-6C6964561114}"/>
              </a:ext>
            </a:extLst>
          </p:cNvPr>
          <p:cNvSpPr>
            <a:spLocks noGrp="1"/>
          </p:cNvSpPr>
          <p:nvPr/>
        </p:nvSpPr>
        <p:spPr>
          <a:xfrm>
            <a:off x="1295400" y="3038475"/>
            <a:ext cx="100107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Mood dan PHQ-9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AED69F-04EC-4932-ACD7-5ED222424C81}"/>
              </a:ext>
            </a:extLst>
          </p:cNvPr>
          <p:cNvSpPr>
            <a:spLocks noGrp="1"/>
          </p:cNvSpPr>
          <p:nvPr/>
        </p:nvSpPr>
        <p:spPr>
          <a:xfrm>
            <a:off x="1295400" y="3343275"/>
            <a:ext cx="100107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0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8A7667"/>
                </a:solidFill>
                <a:latin typeface="Arial"/>
                <a:ea typeface="Arial"/>
                <a:cs typeface="Arial"/>
              </a:rPr>
              <a:t>Bagaimana pemantauan kondisi emosional masuk ke alur percakapan secara bertahap tanpa terasa sebagai proses klinis yang terpisah?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7DCC5BF-0BA7-4374-B44D-BBBD27CB91A0}"/>
              </a:ext>
            </a:extLst>
          </p:cNvPr>
          <p:cNvSpPr>
            <a:spLocks noGrp="1"/>
          </p:cNvSpPr>
          <p:nvPr/>
        </p:nvSpPr>
        <p:spPr>
          <a:xfrm>
            <a:off x="666750" y="4191000"/>
            <a:ext cx="10810875" cy="1085850"/>
          </a:xfrm>
          <a:prstGeom prst="roundRect">
            <a:avLst>
              <a:gd name="adj" fmla="val 7018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6F90454-18F3-49CC-95DE-CF01F746D6A4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7A6049"/>
          </a:solidFill>
          <a:ln w="9525">
            <a:solidFill>
              <a:srgbClr val="7A604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71F5DB-3782-4AA2-AC72-27A1E149C51D}"/>
              </a:ext>
            </a:extLst>
          </p:cNvPr>
          <p:cNvSpPr>
            <a:spLocks noGrp="1"/>
          </p:cNvSpPr>
          <p:nvPr/>
        </p:nvSpPr>
        <p:spPr>
          <a:xfrm>
            <a:off x="838200" y="441960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20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RM3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34D492-DBA0-4F34-97ED-D7BAB9BDC316}"/>
              </a:ext>
            </a:extLst>
          </p:cNvPr>
          <p:cNvSpPr>
            <a:spLocks noGrp="1"/>
          </p:cNvSpPr>
          <p:nvPr/>
        </p:nvSpPr>
        <p:spPr>
          <a:xfrm>
            <a:off x="1295400" y="4352925"/>
            <a:ext cx="100107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Memori jangka panjang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0565A6-C028-4630-AE6F-EAB4184CEFEE}"/>
              </a:ext>
            </a:extLst>
          </p:cNvPr>
          <p:cNvSpPr>
            <a:spLocks noGrp="1"/>
          </p:cNvSpPr>
          <p:nvPr/>
        </p:nvSpPr>
        <p:spPr>
          <a:xfrm>
            <a:off x="1295400" y="4657725"/>
            <a:ext cx="100107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0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8A7667"/>
                </a:solidFill>
                <a:latin typeface="Arial"/>
                <a:ea typeface="Arial"/>
                <a:cs typeface="Arial"/>
              </a:rPr>
              <a:t>Bagaimana memori dapat ditulis, dihubungkan, diperbarui, dan dipilih kembali agar percakapan lintas sesi tetap berkesinambungan?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816A67-D7DD-4344-A89E-273A3FC868C0}"/>
              </a:ext>
            </a:extLst>
          </p:cNvPr>
          <p:cNvSpPr>
            <a:spLocks noGrp="1"/>
          </p:cNvSpPr>
          <p:nvPr/>
        </p:nvSpPr>
        <p:spPr>
          <a:xfrm>
            <a:off x="666750" y="576262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05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Ukuran keberhasilan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064DA9-B917-4E90-B27C-774A16ACFFD5}"/>
              </a:ext>
            </a:extLst>
          </p:cNvPr>
          <p:cNvSpPr>
            <a:spLocks noGrp="1"/>
          </p:cNvSpPr>
          <p:nvPr/>
        </p:nvSpPr>
        <p:spPr>
          <a:xfrm>
            <a:off x="666750" y="60388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7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8A7667"/>
                </a:solidFill>
                <a:latin typeface="Arial"/>
                <a:ea typeface="Arial"/>
                <a:cs typeface="Arial"/>
              </a:rPr>
              <a:t>Dibuktikan melalui fungsi komponen, ketahanan skenario kritis, kemampuan pemanggilan kembali memori, serta pembandingan perilaku percakapan.</a:t>
            </a:r>
          </a:p>
        </p:txBody>
      </p:sp>
    </p:spTree>
    <p:extLst>
      <p:ext uri="{BB962C8B-B14F-4D97-AF65-F5344CB8AC3E}">
        <p14:creationId xmlns:p14="http://schemas.microsoft.com/office/powerpoint/2010/main" val="130703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E68B1B9-83CA-46A7-B5FE-613371AA678B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90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9D191A-A72B-4BAD-9175-409B863E88FF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24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Posisi AXIS: pendamping non-klinis yang terintegrasi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211C867-3A57-4FD9-BF62-A0C24B46BA1E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8585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92B1F2-E528-4F99-B928-D6C27D100D0F}"/>
              </a:ext>
            </a:extLst>
          </p:cNvPr>
          <p:cNvSpPr>
            <a:spLocks noGrp="1"/>
          </p:cNvSpPr>
          <p:nvPr/>
        </p:nvSpPr>
        <p:spPr>
          <a:xfrm>
            <a:off x="6667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MASALAH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E0636DE7-9A06-48D9-9570-F9304D615E3F}"/>
              </a:ext>
            </a:extLst>
          </p:cNvPr>
          <p:cNvSpPr>
            <a:spLocks noGrp="1"/>
          </p:cNvSpPr>
          <p:nvPr/>
        </p:nvSpPr>
        <p:spPr>
          <a:xfrm>
            <a:off x="6667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2422B2-39EA-4A74-9CBC-87A46FE18EC1}"/>
              </a:ext>
            </a:extLst>
          </p:cNvPr>
          <p:cNvSpPr>
            <a:spLocks noGrp="1"/>
          </p:cNvSpPr>
          <p:nvPr/>
        </p:nvSpPr>
        <p:spPr>
          <a:xfrm>
            <a:off x="18859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18CAE34D-F86B-4EC9-8D04-A2D2AF0C6ED2}"/>
              </a:ext>
            </a:extLst>
          </p:cNvPr>
          <p:cNvSpPr>
            <a:spLocks noGrp="1"/>
          </p:cNvSpPr>
          <p:nvPr/>
        </p:nvSpPr>
        <p:spPr>
          <a:xfrm>
            <a:off x="1885950" y="6715125"/>
            <a:ext cx="1104900" cy="0"/>
          </a:xfrm>
          <a:prstGeom prst="line">
            <a:avLst/>
          </a:prstGeom>
          <a:ln w="28575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8D89BE-0775-4853-B61D-68EAAB49B383}"/>
              </a:ext>
            </a:extLst>
          </p:cNvPr>
          <p:cNvSpPr>
            <a:spLocks noGrp="1"/>
          </p:cNvSpPr>
          <p:nvPr/>
        </p:nvSpPr>
        <p:spPr>
          <a:xfrm>
            <a:off x="31051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IMPLEMENTASI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F15B12E-B316-4D06-B00B-A21D7A464763}"/>
              </a:ext>
            </a:extLst>
          </p:cNvPr>
          <p:cNvSpPr>
            <a:spLocks noGrp="1"/>
          </p:cNvSpPr>
          <p:nvPr/>
        </p:nvSpPr>
        <p:spPr>
          <a:xfrm>
            <a:off x="31051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8F9B11-88ED-4C54-882F-AE695E32839D}"/>
              </a:ext>
            </a:extLst>
          </p:cNvPr>
          <p:cNvSpPr>
            <a:spLocks noGrp="1"/>
          </p:cNvSpPr>
          <p:nvPr/>
        </p:nvSpPr>
        <p:spPr>
          <a:xfrm>
            <a:off x="43243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A4E4254-4FE4-401D-BCD5-D5BD7E0E0E42}"/>
              </a:ext>
            </a:extLst>
          </p:cNvPr>
          <p:cNvSpPr>
            <a:spLocks noGrp="1"/>
          </p:cNvSpPr>
          <p:nvPr/>
        </p:nvSpPr>
        <p:spPr>
          <a:xfrm>
            <a:off x="43243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CBE344-4557-49EA-B4AF-B4D896990F4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8D198ED-280A-4062-BB92-63267DA656C1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10858500" cy="2905125"/>
          </a:xfrm>
          <a:prstGeom prst="roundRect">
            <a:avLst>
              <a:gd name="adj" fmla="val 2623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EBC006-644F-4919-BFFB-B7CE68170289}"/>
              </a:ext>
            </a:extLst>
          </p:cNvPr>
          <p:cNvSpPr>
            <a:spLocks noGrp="1"/>
          </p:cNvSpPr>
          <p:nvPr/>
        </p:nvSpPr>
        <p:spPr>
          <a:xfrm>
            <a:off x="1028700" y="1952625"/>
            <a:ext cx="1714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25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AXIS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4F0955-405D-4CDD-81B9-8692A9CE398A}"/>
              </a:ext>
            </a:extLst>
          </p:cNvPr>
          <p:cNvSpPr>
            <a:spLocks noGrp="1"/>
          </p:cNvSpPr>
          <p:nvPr/>
        </p:nvSpPr>
        <p:spPr>
          <a:xfrm>
            <a:off x="1028700" y="2476500"/>
            <a:ext cx="723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50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dirancang untuk menemani proses refleksi sehari-hari, bukan mendiagnosis atau menggantikan bantuan profesional.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0224FB0-9875-4933-98E0-AFB701A64833}"/>
              </a:ext>
            </a:extLst>
          </p:cNvPr>
          <p:cNvSpPr>
            <a:spLocks noGrp="1"/>
          </p:cNvSpPr>
          <p:nvPr/>
        </p:nvSpPr>
        <p:spPr>
          <a:xfrm>
            <a:off x="1028700" y="3238500"/>
            <a:ext cx="1847850" cy="266700"/>
          </a:xfrm>
          <a:prstGeom prst="roundRect">
            <a:avLst>
              <a:gd name="adj" fmla="val 28571"/>
            </a:avLst>
          </a:prstGeom>
          <a:solidFill>
            <a:srgbClr val="F0DFCF"/>
          </a:solidFill>
          <a:ln w="9525">
            <a:solidFill>
              <a:srgbClr val="F0DF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D09024-1C55-47A1-9653-5F13EB5C26D9}"/>
              </a:ext>
            </a:extLst>
          </p:cNvPr>
          <p:cNvSpPr>
            <a:spLocks noGrp="1"/>
          </p:cNvSpPr>
          <p:nvPr/>
        </p:nvSpPr>
        <p:spPr>
          <a:xfrm>
            <a:off x="1028700" y="3286125"/>
            <a:ext cx="18478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7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Percakapan reflektif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A691ED6-7066-4852-9D2F-FE1E969CAEB7}"/>
              </a:ext>
            </a:extLst>
          </p:cNvPr>
          <p:cNvSpPr>
            <a:spLocks noGrp="1"/>
          </p:cNvSpPr>
          <p:nvPr/>
        </p:nvSpPr>
        <p:spPr>
          <a:xfrm>
            <a:off x="3067050" y="3238500"/>
            <a:ext cx="1428750" cy="266700"/>
          </a:xfrm>
          <a:prstGeom prst="roundRect">
            <a:avLst>
              <a:gd name="adj" fmla="val 28571"/>
            </a:avLst>
          </a:prstGeom>
          <a:solidFill>
            <a:srgbClr val="F0DFCF"/>
          </a:solidFill>
          <a:ln w="9525">
            <a:solidFill>
              <a:srgbClr val="F0DF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360133-5C90-4871-8C66-A489855AB49B}"/>
              </a:ext>
            </a:extLst>
          </p:cNvPr>
          <p:cNvSpPr>
            <a:spLocks noGrp="1"/>
          </p:cNvSpPr>
          <p:nvPr/>
        </p:nvSpPr>
        <p:spPr>
          <a:xfrm>
            <a:off x="3067050" y="3286125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7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Mood &amp; PHQ-9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E11E680-C8D0-4BAF-AF54-4ADC369EAB4A}"/>
              </a:ext>
            </a:extLst>
          </p:cNvPr>
          <p:cNvSpPr>
            <a:spLocks noGrp="1"/>
          </p:cNvSpPr>
          <p:nvPr/>
        </p:nvSpPr>
        <p:spPr>
          <a:xfrm>
            <a:off x="4686300" y="3238500"/>
            <a:ext cx="1762125" cy="266700"/>
          </a:xfrm>
          <a:prstGeom prst="roundRect">
            <a:avLst>
              <a:gd name="adj" fmla="val 28571"/>
            </a:avLst>
          </a:prstGeom>
          <a:solidFill>
            <a:srgbClr val="F0DFCF"/>
          </a:solidFill>
          <a:ln w="9525">
            <a:solidFill>
              <a:srgbClr val="F0DF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5AF65A-D17D-4556-880C-4CDE32281DAE}"/>
              </a:ext>
            </a:extLst>
          </p:cNvPr>
          <p:cNvSpPr>
            <a:spLocks noGrp="1"/>
          </p:cNvSpPr>
          <p:nvPr/>
        </p:nvSpPr>
        <p:spPr>
          <a:xfrm>
            <a:off x="4686300" y="3286125"/>
            <a:ext cx="17621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7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Memori berkelanjutan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3BC26EE-53FA-4B22-8F0D-DD94007E4582}"/>
              </a:ext>
            </a:extLst>
          </p:cNvPr>
          <p:cNvSpPr>
            <a:spLocks noGrp="1"/>
          </p:cNvSpPr>
          <p:nvPr/>
        </p:nvSpPr>
        <p:spPr>
          <a:xfrm>
            <a:off x="6638925" y="3238500"/>
            <a:ext cx="1562100" cy="266700"/>
          </a:xfrm>
          <a:prstGeom prst="roundRect">
            <a:avLst>
              <a:gd name="adj" fmla="val 28571"/>
            </a:avLst>
          </a:prstGeom>
          <a:solidFill>
            <a:srgbClr val="F0DFCF"/>
          </a:solidFill>
          <a:ln w="9525">
            <a:solidFill>
              <a:srgbClr val="F0DF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8780CD-1BD1-4F6C-B338-F30B803B443D}"/>
              </a:ext>
            </a:extLst>
          </p:cNvPr>
          <p:cNvSpPr>
            <a:spLocks noGrp="1"/>
          </p:cNvSpPr>
          <p:nvPr/>
        </p:nvSpPr>
        <p:spPr>
          <a:xfrm>
            <a:off x="6638925" y="3286125"/>
            <a:ext cx="15621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7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Kendali pengguna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0D70626-1ED1-4D5C-95BF-775AF4C97476}"/>
              </a:ext>
            </a:extLst>
          </p:cNvPr>
          <p:cNvSpPr>
            <a:spLocks noGrp="1"/>
          </p:cNvSpPr>
          <p:nvPr/>
        </p:nvSpPr>
        <p:spPr>
          <a:xfrm>
            <a:off x="8391525" y="3238500"/>
            <a:ext cx="1619250" cy="266700"/>
          </a:xfrm>
          <a:prstGeom prst="roundRect">
            <a:avLst>
              <a:gd name="adj" fmla="val 28571"/>
            </a:avLst>
          </a:prstGeom>
          <a:solidFill>
            <a:srgbClr val="F0DFCF"/>
          </a:solidFill>
          <a:ln w="9525">
            <a:solidFill>
              <a:srgbClr val="F0DF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2EE57F-F0BB-44AF-9C22-F40567095460}"/>
              </a:ext>
            </a:extLst>
          </p:cNvPr>
          <p:cNvSpPr>
            <a:spLocks noGrp="1"/>
          </p:cNvSpPr>
          <p:nvPr/>
        </p:nvSpPr>
        <p:spPr>
          <a:xfrm>
            <a:off x="8391525" y="3286125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7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Batas keselamatan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4823A4-61EA-4C2D-8EDE-FF55B5085792}"/>
              </a:ext>
            </a:extLst>
          </p:cNvPr>
          <p:cNvSpPr>
            <a:spLocks noGrp="1"/>
          </p:cNvSpPr>
          <p:nvPr/>
        </p:nvSpPr>
        <p:spPr>
          <a:xfrm>
            <a:off x="666750" y="5010150"/>
            <a:ext cx="2952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125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Fitur pendukung companionship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748DFD-E74E-4F34-954C-14FF9A1955CA}"/>
              </a:ext>
            </a:extLst>
          </p:cNvPr>
          <p:cNvSpPr>
            <a:spLocks noGrp="1"/>
          </p:cNvSpPr>
          <p:nvPr/>
        </p:nvSpPr>
        <p:spPr>
          <a:xfrm>
            <a:off x="666750" y="5314950"/>
            <a:ext cx="1071562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8A7667"/>
                </a:solidFill>
                <a:latin typeface="Arial"/>
                <a:ea typeface="Arial"/>
                <a:cs typeface="Arial"/>
              </a:rPr>
              <a:t>Ruang percakapan suara sementara, bantuan dan hotline, visibilitas memori sensitif, penghapusan data, serta ekspor data ditempatkan sebagai cara pengguna mengatur pengalaman pendampingannya.</a:t>
            </a:r>
          </a:p>
        </p:txBody>
      </p:sp>
    </p:spTree>
    <p:extLst>
      <p:ext uri="{BB962C8B-B14F-4D97-AF65-F5344CB8AC3E}">
        <p14:creationId xmlns:p14="http://schemas.microsoft.com/office/powerpoint/2010/main" val="993521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40AF7C4-359B-4920-A05F-D9E50CAC4BCF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90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A65169-E638-4E39-AAA8-6B029AC3DD48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24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Lima kebutuhan mengikat tiga rumusan masalah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0E5C172-397F-4E38-923D-5A5A9FF5BBB4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8585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7F84F0-B8A1-4C9F-8A89-F54021D5EF1B}"/>
              </a:ext>
            </a:extLst>
          </p:cNvPr>
          <p:cNvSpPr>
            <a:spLocks noGrp="1"/>
          </p:cNvSpPr>
          <p:nvPr/>
        </p:nvSpPr>
        <p:spPr>
          <a:xfrm>
            <a:off x="6667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MASALAH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00F3680-67BD-452C-8B5A-EBBB1337E60A}"/>
              </a:ext>
            </a:extLst>
          </p:cNvPr>
          <p:cNvSpPr>
            <a:spLocks noGrp="1"/>
          </p:cNvSpPr>
          <p:nvPr/>
        </p:nvSpPr>
        <p:spPr>
          <a:xfrm>
            <a:off x="6667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D00B86-29F7-49F0-BCB0-083858964581}"/>
              </a:ext>
            </a:extLst>
          </p:cNvPr>
          <p:cNvSpPr>
            <a:spLocks noGrp="1"/>
          </p:cNvSpPr>
          <p:nvPr/>
        </p:nvSpPr>
        <p:spPr>
          <a:xfrm>
            <a:off x="18859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A860997B-06CF-4651-A75D-C8B803F72F82}"/>
              </a:ext>
            </a:extLst>
          </p:cNvPr>
          <p:cNvSpPr>
            <a:spLocks noGrp="1"/>
          </p:cNvSpPr>
          <p:nvPr/>
        </p:nvSpPr>
        <p:spPr>
          <a:xfrm>
            <a:off x="1885950" y="6715125"/>
            <a:ext cx="1104900" cy="0"/>
          </a:xfrm>
          <a:prstGeom prst="line">
            <a:avLst/>
          </a:prstGeom>
          <a:ln w="28575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50CC14-75F7-4BD9-9FBC-4587058B83C2}"/>
              </a:ext>
            </a:extLst>
          </p:cNvPr>
          <p:cNvSpPr>
            <a:spLocks noGrp="1"/>
          </p:cNvSpPr>
          <p:nvPr/>
        </p:nvSpPr>
        <p:spPr>
          <a:xfrm>
            <a:off x="31051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IMPLEMENTASI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9D1222B-4245-4BFE-8B90-7F19BA61E128}"/>
              </a:ext>
            </a:extLst>
          </p:cNvPr>
          <p:cNvSpPr>
            <a:spLocks noGrp="1"/>
          </p:cNvSpPr>
          <p:nvPr/>
        </p:nvSpPr>
        <p:spPr>
          <a:xfrm>
            <a:off x="31051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9E9602-5F95-414E-BEC8-29D2D6F04DC7}"/>
              </a:ext>
            </a:extLst>
          </p:cNvPr>
          <p:cNvSpPr>
            <a:spLocks noGrp="1"/>
          </p:cNvSpPr>
          <p:nvPr/>
        </p:nvSpPr>
        <p:spPr>
          <a:xfrm>
            <a:off x="43243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3B1D085-F534-4287-B112-D02D5C312BCA}"/>
              </a:ext>
            </a:extLst>
          </p:cNvPr>
          <p:cNvSpPr>
            <a:spLocks noGrp="1"/>
          </p:cNvSpPr>
          <p:nvPr/>
        </p:nvSpPr>
        <p:spPr>
          <a:xfrm>
            <a:off x="43243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D985DC-B11A-471E-957C-CF0B952E771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93B7DC-B7E9-45C8-A32D-70B074CBE7A1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8A7667"/>
                </a:solidFill>
                <a:latin typeface="Arial"/>
                <a:ea typeface="Arial"/>
                <a:cs typeface="Arial"/>
              </a:rPr>
              <a:t>K1–K3 menjawab rumusan masalah utama. K4 dan K5 adalah kebutuhan lintas-rumusan agar pengalaman pendampingan tetap aman dan dapat dikendalikan.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B4F685C-355B-483C-A32C-FDF94A96793B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1809750" cy="1762125"/>
          </a:xfrm>
          <a:prstGeom prst="roundRect">
            <a:avLst>
              <a:gd name="adj" fmla="val 4324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F64A44C-30E6-488A-8A2C-DDD7AA3EF73F}"/>
              </a:ext>
            </a:extLst>
          </p:cNvPr>
          <p:cNvSpPr>
            <a:spLocks noGrp="1"/>
          </p:cNvSpPr>
          <p:nvPr/>
        </p:nvSpPr>
        <p:spPr>
          <a:xfrm>
            <a:off x="876300" y="2686050"/>
            <a:ext cx="428625" cy="428625"/>
          </a:xfrm>
          <a:prstGeom prst="roundRect">
            <a:avLst>
              <a:gd name="adj" fmla="val 17778"/>
            </a:avLst>
          </a:prstGeom>
          <a:solidFill>
            <a:srgbClr val="4F3424"/>
          </a:solidFill>
          <a:ln w="9525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834CF3-8DED-4714-849B-DC28BEBAA584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4286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275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K1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86B36E-9B24-463E-88F3-DBFF5341AB0D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14668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Percakapan bermakna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11D306A-44DA-4184-A921-2395D32CB960}"/>
              </a:ext>
            </a:extLst>
          </p:cNvPr>
          <p:cNvSpPr>
            <a:spLocks noGrp="1"/>
          </p:cNvSpPr>
          <p:nvPr/>
        </p:nvSpPr>
        <p:spPr>
          <a:xfrm>
            <a:off x="2838450" y="2476500"/>
            <a:ext cx="1809750" cy="1762125"/>
          </a:xfrm>
          <a:prstGeom prst="roundRect">
            <a:avLst>
              <a:gd name="adj" fmla="val 4324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FBE9466-7122-442F-8B0F-8A6F57CA802D}"/>
              </a:ext>
            </a:extLst>
          </p:cNvPr>
          <p:cNvSpPr>
            <a:spLocks noGrp="1"/>
          </p:cNvSpPr>
          <p:nvPr/>
        </p:nvSpPr>
        <p:spPr>
          <a:xfrm>
            <a:off x="3048000" y="2686050"/>
            <a:ext cx="428625" cy="428625"/>
          </a:xfrm>
          <a:prstGeom prst="roundRect">
            <a:avLst>
              <a:gd name="adj" fmla="val 17778"/>
            </a:avLst>
          </a:prstGeom>
          <a:solidFill>
            <a:srgbClr val="8B5438"/>
          </a:solidFill>
          <a:ln w="9525">
            <a:solidFill>
              <a:srgbClr val="8B543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44E28D-A94A-4B4E-B506-B2A738525894}"/>
              </a:ext>
            </a:extLst>
          </p:cNvPr>
          <p:cNvSpPr>
            <a:spLocks noGrp="1"/>
          </p:cNvSpPr>
          <p:nvPr/>
        </p:nvSpPr>
        <p:spPr>
          <a:xfrm>
            <a:off x="3048000" y="2800350"/>
            <a:ext cx="4286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275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K2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CB0AED-8E26-4767-930C-04FA9FF52C9E}"/>
              </a:ext>
            </a:extLst>
          </p:cNvPr>
          <p:cNvSpPr>
            <a:spLocks noGrp="1"/>
          </p:cNvSpPr>
          <p:nvPr/>
        </p:nvSpPr>
        <p:spPr>
          <a:xfrm>
            <a:off x="3009900" y="3333750"/>
            <a:ext cx="14668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Mood dan PHQ-9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4DDE6A0-1D9B-4F7A-B80D-6C2A0F5B03DB}"/>
              </a:ext>
            </a:extLst>
          </p:cNvPr>
          <p:cNvSpPr>
            <a:spLocks noGrp="1"/>
          </p:cNvSpPr>
          <p:nvPr/>
        </p:nvSpPr>
        <p:spPr>
          <a:xfrm>
            <a:off x="5010150" y="2476500"/>
            <a:ext cx="1809750" cy="1762125"/>
          </a:xfrm>
          <a:prstGeom prst="roundRect">
            <a:avLst>
              <a:gd name="adj" fmla="val 4324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3A131E5-44ED-42B0-8901-A8B2F53BEDB5}"/>
              </a:ext>
            </a:extLst>
          </p:cNvPr>
          <p:cNvSpPr>
            <a:spLocks noGrp="1"/>
          </p:cNvSpPr>
          <p:nvPr/>
        </p:nvSpPr>
        <p:spPr>
          <a:xfrm>
            <a:off x="5219700" y="2686050"/>
            <a:ext cx="428625" cy="428625"/>
          </a:xfrm>
          <a:prstGeom prst="roundRect">
            <a:avLst>
              <a:gd name="adj" fmla="val 17778"/>
            </a:avLst>
          </a:prstGeom>
          <a:solidFill>
            <a:srgbClr val="7A6049"/>
          </a:solidFill>
          <a:ln w="9525">
            <a:solidFill>
              <a:srgbClr val="7A604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8172C7-E2DB-4D7C-B89C-71186D900D2D}"/>
              </a:ext>
            </a:extLst>
          </p:cNvPr>
          <p:cNvSpPr>
            <a:spLocks noGrp="1"/>
          </p:cNvSpPr>
          <p:nvPr/>
        </p:nvSpPr>
        <p:spPr>
          <a:xfrm>
            <a:off x="5219700" y="2800350"/>
            <a:ext cx="4286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275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K3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383621-7780-421D-89B8-F0F2C246D357}"/>
              </a:ext>
            </a:extLst>
          </p:cNvPr>
          <p:cNvSpPr>
            <a:spLocks noGrp="1"/>
          </p:cNvSpPr>
          <p:nvPr/>
        </p:nvSpPr>
        <p:spPr>
          <a:xfrm>
            <a:off x="5181600" y="3333750"/>
            <a:ext cx="14668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Memori jangka panjang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77B149A-CAF3-4C7B-90D2-D6D0D3D912E1}"/>
              </a:ext>
            </a:extLst>
          </p:cNvPr>
          <p:cNvSpPr>
            <a:spLocks noGrp="1"/>
          </p:cNvSpPr>
          <p:nvPr/>
        </p:nvSpPr>
        <p:spPr>
          <a:xfrm>
            <a:off x="7181850" y="2476500"/>
            <a:ext cx="1809750" cy="1762125"/>
          </a:xfrm>
          <a:prstGeom prst="roundRect">
            <a:avLst>
              <a:gd name="adj" fmla="val 4324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4272D1A-383D-443B-8D25-7241CFCC6E6B}"/>
              </a:ext>
            </a:extLst>
          </p:cNvPr>
          <p:cNvSpPr>
            <a:spLocks noGrp="1"/>
          </p:cNvSpPr>
          <p:nvPr/>
        </p:nvSpPr>
        <p:spPr>
          <a:xfrm>
            <a:off x="7391400" y="2686050"/>
            <a:ext cx="428625" cy="428625"/>
          </a:xfrm>
          <a:prstGeom prst="roundRect">
            <a:avLst>
              <a:gd name="adj" fmla="val 17778"/>
            </a:avLst>
          </a:prstGeom>
          <a:solidFill>
            <a:srgbClr val="C8924F"/>
          </a:solidFill>
          <a:ln w="9525">
            <a:solidFill>
              <a:srgbClr val="C8924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E96B22-17DE-47EF-9E47-902743267654}"/>
              </a:ext>
            </a:extLst>
          </p:cNvPr>
          <p:cNvSpPr>
            <a:spLocks noGrp="1"/>
          </p:cNvSpPr>
          <p:nvPr/>
        </p:nvSpPr>
        <p:spPr>
          <a:xfrm>
            <a:off x="7391400" y="2800350"/>
            <a:ext cx="4286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275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K4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F13405-F8F2-42CD-8A59-60F2D9D562B5}"/>
              </a:ext>
            </a:extLst>
          </p:cNvPr>
          <p:cNvSpPr>
            <a:spLocks noGrp="1"/>
          </p:cNvSpPr>
          <p:nvPr/>
        </p:nvSpPr>
        <p:spPr>
          <a:xfrm>
            <a:off x="7353300" y="3333750"/>
            <a:ext cx="14668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Batas keselamatan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0DE1C3D-544F-4E91-94D1-077F66B23AD6}"/>
              </a:ext>
            </a:extLst>
          </p:cNvPr>
          <p:cNvSpPr>
            <a:spLocks noGrp="1"/>
          </p:cNvSpPr>
          <p:nvPr/>
        </p:nvSpPr>
        <p:spPr>
          <a:xfrm>
            <a:off x="9353550" y="2476500"/>
            <a:ext cx="1809750" cy="1762125"/>
          </a:xfrm>
          <a:prstGeom prst="roundRect">
            <a:avLst>
              <a:gd name="adj" fmla="val 4324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A53804B-94FF-438E-83DA-3F3E70038B61}"/>
              </a:ext>
            </a:extLst>
          </p:cNvPr>
          <p:cNvSpPr>
            <a:spLocks noGrp="1"/>
          </p:cNvSpPr>
          <p:nvPr/>
        </p:nvSpPr>
        <p:spPr>
          <a:xfrm>
            <a:off x="9563100" y="2686050"/>
            <a:ext cx="428625" cy="428625"/>
          </a:xfrm>
          <a:prstGeom prst="roundRect">
            <a:avLst>
              <a:gd name="adj" fmla="val 17778"/>
            </a:avLst>
          </a:prstGeom>
          <a:solidFill>
            <a:srgbClr val="A85F5D"/>
          </a:solidFill>
          <a:ln w="9525">
            <a:solidFill>
              <a:srgbClr val="A85F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AE347A-BE47-479F-999E-5BE02F74B732}"/>
              </a:ext>
            </a:extLst>
          </p:cNvPr>
          <p:cNvSpPr>
            <a:spLocks noGrp="1"/>
          </p:cNvSpPr>
          <p:nvPr/>
        </p:nvSpPr>
        <p:spPr>
          <a:xfrm>
            <a:off x="9563100" y="2800350"/>
            <a:ext cx="4286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275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K5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2A7DF9F-059D-4FA6-BD48-74A7B7918EA1}"/>
              </a:ext>
            </a:extLst>
          </p:cNvPr>
          <p:cNvSpPr>
            <a:spLocks noGrp="1"/>
          </p:cNvSpPr>
          <p:nvPr/>
        </p:nvSpPr>
        <p:spPr>
          <a:xfrm>
            <a:off x="9525000" y="3333750"/>
            <a:ext cx="14668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Kendali pengguna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56902D7-E96B-4B7A-825D-00AE07D671B7}"/>
              </a:ext>
            </a:extLst>
          </p:cNvPr>
          <p:cNvSpPr>
            <a:spLocks noGrp="1"/>
          </p:cNvSpPr>
          <p:nvPr/>
        </p:nvSpPr>
        <p:spPr>
          <a:xfrm>
            <a:off x="666750" y="4905375"/>
            <a:ext cx="1809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125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Prinsip desain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7DE7E3-4401-4B8F-8129-ADC36528E160}"/>
              </a:ext>
            </a:extLst>
          </p:cNvPr>
          <p:cNvSpPr>
            <a:spLocks noGrp="1"/>
          </p:cNvSpPr>
          <p:nvPr/>
        </p:nvSpPr>
        <p:spPr>
          <a:xfrm>
            <a:off x="666750" y="5200650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5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Setiap fitur harus membantu percakapan tetap relevan, aman, atau dapat dikendalikan pengguna. Fitur tidak diperlakukan sebagai daftar teknologi yang berdiri sendiri.</a:t>
            </a:r>
          </a:p>
        </p:txBody>
      </p:sp>
    </p:spTree>
    <p:extLst>
      <p:ext uri="{BB962C8B-B14F-4D97-AF65-F5344CB8AC3E}">
        <p14:creationId xmlns:p14="http://schemas.microsoft.com/office/powerpoint/2010/main" val="835700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69C25CCC-4842-48AF-B6DD-02E2D5793C3C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90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D34C7-9973-4106-B871-B95F53E05741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24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Alur solusi AXIS dari percakapan hingga memori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EC3E538-59DA-40B9-8BDE-9BCC439A0501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8585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27A9E9-21DA-430C-8A74-7C99CE323FF9}"/>
              </a:ext>
            </a:extLst>
          </p:cNvPr>
          <p:cNvSpPr>
            <a:spLocks noGrp="1"/>
          </p:cNvSpPr>
          <p:nvPr/>
        </p:nvSpPr>
        <p:spPr>
          <a:xfrm>
            <a:off x="6667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MASALAH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7983DD18-44D1-4822-A45C-A5E2AF2EABCE}"/>
              </a:ext>
            </a:extLst>
          </p:cNvPr>
          <p:cNvSpPr>
            <a:spLocks noGrp="1"/>
          </p:cNvSpPr>
          <p:nvPr/>
        </p:nvSpPr>
        <p:spPr>
          <a:xfrm>
            <a:off x="6667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E8312D-550B-4634-B354-6471DE1FC723}"/>
              </a:ext>
            </a:extLst>
          </p:cNvPr>
          <p:cNvSpPr>
            <a:spLocks noGrp="1"/>
          </p:cNvSpPr>
          <p:nvPr/>
        </p:nvSpPr>
        <p:spPr>
          <a:xfrm>
            <a:off x="18859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F44E004-D332-425B-814E-10A80ED5E4FA}"/>
              </a:ext>
            </a:extLst>
          </p:cNvPr>
          <p:cNvSpPr>
            <a:spLocks noGrp="1"/>
          </p:cNvSpPr>
          <p:nvPr/>
        </p:nvSpPr>
        <p:spPr>
          <a:xfrm>
            <a:off x="1885950" y="6715125"/>
            <a:ext cx="1104900" cy="0"/>
          </a:xfrm>
          <a:prstGeom prst="line">
            <a:avLst/>
          </a:prstGeom>
          <a:ln w="28575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D73951-F62E-459E-B91D-F17F4F65868A}"/>
              </a:ext>
            </a:extLst>
          </p:cNvPr>
          <p:cNvSpPr>
            <a:spLocks noGrp="1"/>
          </p:cNvSpPr>
          <p:nvPr/>
        </p:nvSpPr>
        <p:spPr>
          <a:xfrm>
            <a:off x="31051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IMPLEMENTASI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AC4433E3-882D-47E3-8F87-C7373AEB03C0}"/>
              </a:ext>
            </a:extLst>
          </p:cNvPr>
          <p:cNvSpPr>
            <a:spLocks noGrp="1"/>
          </p:cNvSpPr>
          <p:nvPr/>
        </p:nvSpPr>
        <p:spPr>
          <a:xfrm>
            <a:off x="31051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89A92F-52E9-4ED7-B598-18901F6B3B3A}"/>
              </a:ext>
            </a:extLst>
          </p:cNvPr>
          <p:cNvSpPr>
            <a:spLocks noGrp="1"/>
          </p:cNvSpPr>
          <p:nvPr/>
        </p:nvSpPr>
        <p:spPr>
          <a:xfrm>
            <a:off x="43243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E66608D-FEFD-4915-9837-09C83F1BB633}"/>
              </a:ext>
            </a:extLst>
          </p:cNvPr>
          <p:cNvSpPr>
            <a:spLocks noGrp="1"/>
          </p:cNvSpPr>
          <p:nvPr/>
        </p:nvSpPr>
        <p:spPr>
          <a:xfrm>
            <a:off x="43243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8756E1-5AEA-4534-94B3-77D3DE844E28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1604CA6-5E8D-43C1-886D-DDBACFBD22C9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1905000" cy="1733550"/>
          </a:xfrm>
          <a:prstGeom prst="roundRect">
            <a:avLst>
              <a:gd name="adj" fmla="val 4396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EC5938-6CE6-4866-BE9E-CFEF5195D81B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3333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125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E34E20-33AD-4F6D-AB23-5A3CBB9391A3}"/>
              </a:ext>
            </a:extLst>
          </p:cNvPr>
          <p:cNvSpPr>
            <a:spLocks noGrp="1"/>
          </p:cNvSpPr>
          <p:nvPr/>
        </p:nvSpPr>
        <p:spPr>
          <a:xfrm>
            <a:off x="742950" y="2924175"/>
            <a:ext cx="1562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42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Pengguna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B3ED9C-D931-411D-BB9B-BA879E292887}"/>
              </a:ext>
            </a:extLst>
          </p:cNvPr>
          <p:cNvSpPr>
            <a:spLocks noGrp="1"/>
          </p:cNvSpPr>
          <p:nvPr/>
        </p:nvSpPr>
        <p:spPr>
          <a:xfrm>
            <a:off x="742950" y="3352800"/>
            <a:ext cx="15621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0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8A7667"/>
                </a:solidFill>
                <a:latin typeface="Arial"/>
                <a:ea typeface="Arial"/>
                <a:cs typeface="Arial"/>
              </a:rPr>
              <a:t>menulis, berbicara, atau mencatat mood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E99DDA-B62A-42C9-8942-B7ACFA5D0B46}"/>
              </a:ext>
            </a:extLst>
          </p:cNvPr>
          <p:cNvSpPr>
            <a:spLocks noGrp="1"/>
          </p:cNvSpPr>
          <p:nvPr/>
        </p:nvSpPr>
        <p:spPr>
          <a:xfrm>
            <a:off x="2514600" y="3028950"/>
            <a:ext cx="4381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225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492A46E-C4B7-48A3-9DE4-6ECEB609F9B2}"/>
              </a:ext>
            </a:extLst>
          </p:cNvPr>
          <p:cNvSpPr>
            <a:spLocks noGrp="1"/>
          </p:cNvSpPr>
          <p:nvPr/>
        </p:nvSpPr>
        <p:spPr>
          <a:xfrm>
            <a:off x="2895600" y="2381250"/>
            <a:ext cx="1905000" cy="1733550"/>
          </a:xfrm>
          <a:prstGeom prst="roundRect">
            <a:avLst>
              <a:gd name="adj" fmla="val 4396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1E2835-5513-4D30-8FB7-F68CC657A85F}"/>
              </a:ext>
            </a:extLst>
          </p:cNvPr>
          <p:cNvSpPr>
            <a:spLocks noGrp="1"/>
          </p:cNvSpPr>
          <p:nvPr/>
        </p:nvSpPr>
        <p:spPr>
          <a:xfrm>
            <a:off x="3067050" y="2571750"/>
            <a:ext cx="3333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125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2D2DD-FECB-4216-83B2-5A7A93CB7522}"/>
              </a:ext>
            </a:extLst>
          </p:cNvPr>
          <p:cNvSpPr>
            <a:spLocks noGrp="1"/>
          </p:cNvSpPr>
          <p:nvPr/>
        </p:nvSpPr>
        <p:spPr>
          <a:xfrm>
            <a:off x="3067050" y="2924175"/>
            <a:ext cx="1562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42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Memahami kondisi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9D2911-3F09-4262-B7A4-2C6364E78385}"/>
              </a:ext>
            </a:extLst>
          </p:cNvPr>
          <p:cNvSpPr>
            <a:spLocks noGrp="1"/>
          </p:cNvSpPr>
          <p:nvPr/>
        </p:nvSpPr>
        <p:spPr>
          <a:xfrm>
            <a:off x="3067050" y="3352800"/>
            <a:ext cx="15621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0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8A7667"/>
                </a:solidFill>
                <a:latin typeface="Arial"/>
                <a:ea typeface="Arial"/>
                <a:cs typeface="Arial"/>
              </a:rPr>
              <a:t>bahasa, konteks, dan batas keselamatan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E9BF1A-1EB2-4454-B8DA-879F3B5CAC50}"/>
              </a:ext>
            </a:extLst>
          </p:cNvPr>
          <p:cNvSpPr>
            <a:spLocks noGrp="1"/>
          </p:cNvSpPr>
          <p:nvPr/>
        </p:nvSpPr>
        <p:spPr>
          <a:xfrm>
            <a:off x="4838700" y="3028950"/>
            <a:ext cx="4381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225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4EB1E3A-D7CB-4769-AD8C-D2FF14E70373}"/>
              </a:ext>
            </a:extLst>
          </p:cNvPr>
          <p:cNvSpPr>
            <a:spLocks noGrp="1"/>
          </p:cNvSpPr>
          <p:nvPr/>
        </p:nvSpPr>
        <p:spPr>
          <a:xfrm>
            <a:off x="5219700" y="2381250"/>
            <a:ext cx="1905000" cy="1733550"/>
          </a:xfrm>
          <a:prstGeom prst="roundRect">
            <a:avLst>
              <a:gd name="adj" fmla="val 4396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B540C8-A028-4191-B410-84E51EF3817D}"/>
              </a:ext>
            </a:extLst>
          </p:cNvPr>
          <p:cNvSpPr>
            <a:spLocks noGrp="1"/>
          </p:cNvSpPr>
          <p:nvPr/>
        </p:nvSpPr>
        <p:spPr>
          <a:xfrm>
            <a:off x="5391150" y="2571750"/>
            <a:ext cx="3333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125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08CC56-B9BC-4C01-8534-0CD22D3BABA4}"/>
              </a:ext>
            </a:extLst>
          </p:cNvPr>
          <p:cNvSpPr>
            <a:spLocks noGrp="1"/>
          </p:cNvSpPr>
          <p:nvPr/>
        </p:nvSpPr>
        <p:spPr>
          <a:xfrm>
            <a:off x="5391150" y="2924175"/>
            <a:ext cx="1562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42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Merespons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5C19E9-E6CC-48DF-A566-7573F825B60E}"/>
              </a:ext>
            </a:extLst>
          </p:cNvPr>
          <p:cNvSpPr>
            <a:spLocks noGrp="1"/>
          </p:cNvSpPr>
          <p:nvPr/>
        </p:nvSpPr>
        <p:spPr>
          <a:xfrm>
            <a:off x="5391150" y="3352800"/>
            <a:ext cx="15621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0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8A7667"/>
                </a:solidFill>
                <a:latin typeface="Arial"/>
                <a:ea typeface="Arial"/>
                <a:cs typeface="Arial"/>
              </a:rPr>
              <a:t>refleksi CBT, informasi, atau rujukan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751413-B6A0-42CB-A03C-2BB68626BDF2}"/>
              </a:ext>
            </a:extLst>
          </p:cNvPr>
          <p:cNvSpPr>
            <a:spLocks noGrp="1"/>
          </p:cNvSpPr>
          <p:nvPr/>
        </p:nvSpPr>
        <p:spPr>
          <a:xfrm>
            <a:off x="7162800" y="3028950"/>
            <a:ext cx="4381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225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35CB90C-2557-4BCD-8E76-C1CC566D6240}"/>
              </a:ext>
            </a:extLst>
          </p:cNvPr>
          <p:cNvSpPr>
            <a:spLocks noGrp="1"/>
          </p:cNvSpPr>
          <p:nvPr/>
        </p:nvSpPr>
        <p:spPr>
          <a:xfrm>
            <a:off x="7543800" y="2381250"/>
            <a:ext cx="1905000" cy="1733550"/>
          </a:xfrm>
          <a:prstGeom prst="roundRect">
            <a:avLst>
              <a:gd name="adj" fmla="val 4396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1653D3-3408-4F3A-8406-5C92B05142AE}"/>
              </a:ext>
            </a:extLst>
          </p:cNvPr>
          <p:cNvSpPr>
            <a:spLocks noGrp="1"/>
          </p:cNvSpPr>
          <p:nvPr/>
        </p:nvSpPr>
        <p:spPr>
          <a:xfrm>
            <a:off x="7715250" y="2571750"/>
            <a:ext cx="3333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125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1843FB-C0CB-429E-B30E-0366D48C0C85}"/>
              </a:ext>
            </a:extLst>
          </p:cNvPr>
          <p:cNvSpPr>
            <a:spLocks noGrp="1"/>
          </p:cNvSpPr>
          <p:nvPr/>
        </p:nvSpPr>
        <p:spPr>
          <a:xfrm>
            <a:off x="7715250" y="2924175"/>
            <a:ext cx="1562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42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Menutup sesi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EB19318-6C60-41CA-9E26-CFA4F6E2CBB4}"/>
              </a:ext>
            </a:extLst>
          </p:cNvPr>
          <p:cNvSpPr>
            <a:spLocks noGrp="1"/>
          </p:cNvSpPr>
          <p:nvPr/>
        </p:nvSpPr>
        <p:spPr>
          <a:xfrm>
            <a:off x="7715250" y="3352800"/>
            <a:ext cx="15621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0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8A7667"/>
                </a:solidFill>
                <a:latin typeface="Arial"/>
                <a:ea typeface="Arial"/>
                <a:cs typeface="Arial"/>
              </a:rPr>
              <a:t>sesi aktif selesai tanpa mengganggu percakapan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8480F9-BABB-43F9-98B5-D25703C58422}"/>
              </a:ext>
            </a:extLst>
          </p:cNvPr>
          <p:cNvSpPr>
            <a:spLocks noGrp="1"/>
          </p:cNvSpPr>
          <p:nvPr/>
        </p:nvSpPr>
        <p:spPr>
          <a:xfrm>
            <a:off x="9486900" y="3028950"/>
            <a:ext cx="4381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225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5052073-1877-430D-AAC4-9220A1C69530}"/>
              </a:ext>
            </a:extLst>
          </p:cNvPr>
          <p:cNvSpPr>
            <a:spLocks noGrp="1"/>
          </p:cNvSpPr>
          <p:nvPr/>
        </p:nvSpPr>
        <p:spPr>
          <a:xfrm>
            <a:off x="9867900" y="2381250"/>
            <a:ext cx="1905000" cy="1733550"/>
          </a:xfrm>
          <a:prstGeom prst="roundRect">
            <a:avLst>
              <a:gd name="adj" fmla="val 4396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89EAC3-0EA6-4E75-9069-2A738DA514D5}"/>
              </a:ext>
            </a:extLst>
          </p:cNvPr>
          <p:cNvSpPr>
            <a:spLocks noGrp="1"/>
          </p:cNvSpPr>
          <p:nvPr/>
        </p:nvSpPr>
        <p:spPr>
          <a:xfrm>
            <a:off x="10039350" y="2571750"/>
            <a:ext cx="3333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125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40C1225-4A8C-4E12-9F63-40F347223475}"/>
              </a:ext>
            </a:extLst>
          </p:cNvPr>
          <p:cNvSpPr>
            <a:spLocks noGrp="1"/>
          </p:cNvSpPr>
          <p:nvPr/>
        </p:nvSpPr>
        <p:spPr>
          <a:xfrm>
            <a:off x="10039350" y="2924175"/>
            <a:ext cx="1562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42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Menulis memori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CFE8FD3-D384-48F4-A614-152416B6D5DE}"/>
              </a:ext>
            </a:extLst>
          </p:cNvPr>
          <p:cNvSpPr>
            <a:spLocks noGrp="1"/>
          </p:cNvSpPr>
          <p:nvPr/>
        </p:nvSpPr>
        <p:spPr>
          <a:xfrm>
            <a:off x="10039350" y="3352800"/>
            <a:ext cx="15621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0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8A7667"/>
                </a:solidFill>
                <a:latin typeface="Arial"/>
                <a:ea typeface="Arial"/>
                <a:cs typeface="Arial"/>
              </a:rPr>
              <a:t>sesi reguler disaring dan diringkas secara asinkron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32E71D2-BF60-4095-9914-94EC438C80B7}"/>
              </a:ext>
            </a:extLst>
          </p:cNvPr>
          <p:cNvSpPr>
            <a:spLocks noGrp="1"/>
          </p:cNvSpPr>
          <p:nvPr/>
        </p:nvSpPr>
        <p:spPr>
          <a:xfrm>
            <a:off x="666750" y="4876800"/>
            <a:ext cx="10858500" cy="819150"/>
          </a:xfrm>
          <a:prstGeom prst="roundRect">
            <a:avLst>
              <a:gd name="adj" fmla="val 9302"/>
            </a:avLst>
          </a:prstGeom>
          <a:solidFill>
            <a:srgbClr val="EFE6D4"/>
          </a:solidFill>
          <a:ln w="9525">
            <a:solidFill>
              <a:srgbClr val="EFE6D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2BCE10-C565-46FE-AFFB-CECD0A4B2A26}"/>
              </a:ext>
            </a:extLst>
          </p:cNvPr>
          <p:cNvSpPr>
            <a:spLocks noGrp="1"/>
          </p:cNvSpPr>
          <p:nvPr/>
        </p:nvSpPr>
        <p:spPr>
          <a:xfrm>
            <a:off x="904875" y="5076825"/>
            <a:ext cx="13144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125">
                <a:solidFill>
                  <a:srgbClr val="7A60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A6049"/>
                </a:solidFill>
                <a:latin typeface="Arial"/>
                <a:ea typeface="Arial"/>
                <a:cs typeface="Arial"/>
              </a:rPr>
              <a:t>Batas penting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FE3F26B-87D5-4841-B278-9364F1958D87}"/>
              </a:ext>
            </a:extLst>
          </p:cNvPr>
          <p:cNvSpPr>
            <a:spLocks noGrp="1"/>
          </p:cNvSpPr>
          <p:nvPr/>
        </p:nvSpPr>
        <p:spPr>
          <a:xfrm>
            <a:off x="2381250" y="5048250"/>
            <a:ext cx="8763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D2119"/>
                </a:solidFill>
                <a:latin typeface="Arial"/>
                <a:ea typeface="Arial"/>
                <a:cs typeface="Arial"/>
              </a:rPr>
              <a:t>Confession Space adalah percakapan suara sementara. Transkripnya membantu interaksi saat itu, tetapi tidak masuk ke penulisan memori jangka panjang AXIS.</a:t>
            </a:r>
          </a:p>
        </p:txBody>
      </p:sp>
    </p:spTree>
    <p:extLst>
      <p:ext uri="{BB962C8B-B14F-4D97-AF65-F5344CB8AC3E}">
        <p14:creationId xmlns:p14="http://schemas.microsoft.com/office/powerpoint/2010/main" val="124064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B9FD87A0-04B6-43EF-BEF0-FC924AB13FD7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90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8C45BD-73AD-4BE4-8170-042A72E2E145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24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Percakapan reflektif: respons mengikuti kondisi pengguna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21867B0-E0B1-4A3A-B303-8644CCFB9A2B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8585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58D750-404B-4255-852A-2017C4B90CEA}"/>
              </a:ext>
            </a:extLst>
          </p:cNvPr>
          <p:cNvSpPr>
            <a:spLocks noGrp="1"/>
          </p:cNvSpPr>
          <p:nvPr/>
        </p:nvSpPr>
        <p:spPr>
          <a:xfrm>
            <a:off x="6667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MASALAH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FD7803EA-3D39-4C01-8D6C-90DD7F8821AD}"/>
              </a:ext>
            </a:extLst>
          </p:cNvPr>
          <p:cNvSpPr>
            <a:spLocks noGrp="1"/>
          </p:cNvSpPr>
          <p:nvPr/>
        </p:nvSpPr>
        <p:spPr>
          <a:xfrm>
            <a:off x="6667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7E6907-3510-461E-B149-0557A3AFB916}"/>
              </a:ext>
            </a:extLst>
          </p:cNvPr>
          <p:cNvSpPr>
            <a:spLocks noGrp="1"/>
          </p:cNvSpPr>
          <p:nvPr/>
        </p:nvSpPr>
        <p:spPr>
          <a:xfrm>
            <a:off x="18859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D22B958-6FE3-4EDF-B3C5-014A8C7ABC16}"/>
              </a:ext>
            </a:extLst>
          </p:cNvPr>
          <p:cNvSpPr>
            <a:spLocks noGrp="1"/>
          </p:cNvSpPr>
          <p:nvPr/>
        </p:nvSpPr>
        <p:spPr>
          <a:xfrm>
            <a:off x="1885950" y="6715125"/>
            <a:ext cx="1104900" cy="0"/>
          </a:xfrm>
          <a:prstGeom prst="line">
            <a:avLst/>
          </a:prstGeom>
          <a:ln w="28575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E75FBB-A097-4DE6-9425-EAC9E08FE722}"/>
              </a:ext>
            </a:extLst>
          </p:cNvPr>
          <p:cNvSpPr>
            <a:spLocks noGrp="1"/>
          </p:cNvSpPr>
          <p:nvPr/>
        </p:nvSpPr>
        <p:spPr>
          <a:xfrm>
            <a:off x="31051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IMPLEMENTASI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1C8CB42A-D269-428E-BC75-56A51E128080}"/>
              </a:ext>
            </a:extLst>
          </p:cNvPr>
          <p:cNvSpPr>
            <a:spLocks noGrp="1"/>
          </p:cNvSpPr>
          <p:nvPr/>
        </p:nvSpPr>
        <p:spPr>
          <a:xfrm>
            <a:off x="31051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62EF54-0412-4065-824E-8CE31300E33D}"/>
              </a:ext>
            </a:extLst>
          </p:cNvPr>
          <p:cNvSpPr>
            <a:spLocks noGrp="1"/>
          </p:cNvSpPr>
          <p:nvPr/>
        </p:nvSpPr>
        <p:spPr>
          <a:xfrm>
            <a:off x="43243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BCAE480-02A8-4216-867E-BCDCDCDA2169}"/>
              </a:ext>
            </a:extLst>
          </p:cNvPr>
          <p:cNvSpPr>
            <a:spLocks noGrp="1"/>
          </p:cNvSpPr>
          <p:nvPr/>
        </p:nvSpPr>
        <p:spPr>
          <a:xfrm>
            <a:off x="43243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7B7E5D-B904-4DB4-9414-FFFA10EA984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994EB06-F4A8-4ACC-AE7B-A23A40520D8A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2209800" cy="1409700"/>
          </a:xfrm>
          <a:prstGeom prst="roundRect">
            <a:avLst>
              <a:gd name="adj" fmla="val 5405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DE2182-5C34-4671-91F2-4F3E50B7230A}"/>
              </a:ext>
            </a:extLst>
          </p:cNvPr>
          <p:cNvSpPr>
            <a:spLocks noGrp="1"/>
          </p:cNvSpPr>
          <p:nvPr/>
        </p:nvSpPr>
        <p:spPr>
          <a:xfrm>
            <a:off x="838200" y="2238375"/>
            <a:ext cx="1866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Pesan pengguna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F559CE-D638-4F82-9439-9FE2D5CA2188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18669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0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8A7667"/>
                </a:solidFill>
                <a:latin typeface="Arial"/>
                <a:ea typeface="Arial"/>
                <a:cs typeface="Arial"/>
              </a:rPr>
              <a:t>bahasa informal dan campuran dikenali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397DBE-6F6E-4492-9D38-92A679548BC4}"/>
              </a:ext>
            </a:extLst>
          </p:cNvPr>
          <p:cNvSpPr>
            <a:spLocks noGrp="1"/>
          </p:cNvSpPr>
          <p:nvPr/>
        </p:nvSpPr>
        <p:spPr>
          <a:xfrm>
            <a:off x="2876550" y="2533650"/>
            <a:ext cx="4381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225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9AFD281-B444-4224-A8CA-E4BDCC7210AB}"/>
              </a:ext>
            </a:extLst>
          </p:cNvPr>
          <p:cNvSpPr>
            <a:spLocks noGrp="1"/>
          </p:cNvSpPr>
          <p:nvPr/>
        </p:nvSpPr>
        <p:spPr>
          <a:xfrm>
            <a:off x="3381375" y="2000250"/>
            <a:ext cx="2209800" cy="1409700"/>
          </a:xfrm>
          <a:prstGeom prst="roundRect">
            <a:avLst>
              <a:gd name="adj" fmla="val 5405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A82698-0319-4C55-90E3-CD13ED6DC16D}"/>
              </a:ext>
            </a:extLst>
          </p:cNvPr>
          <p:cNvSpPr>
            <a:spLocks noGrp="1"/>
          </p:cNvSpPr>
          <p:nvPr/>
        </p:nvSpPr>
        <p:spPr>
          <a:xfrm>
            <a:off x="3552825" y="2238375"/>
            <a:ext cx="1866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Sinyal percakapan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A2A668-F358-4128-8D31-B7752A910934}"/>
              </a:ext>
            </a:extLst>
          </p:cNvPr>
          <p:cNvSpPr>
            <a:spLocks noGrp="1"/>
          </p:cNvSpPr>
          <p:nvPr/>
        </p:nvSpPr>
        <p:spPr>
          <a:xfrm>
            <a:off x="3552825" y="2686050"/>
            <a:ext cx="18669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0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8A7667"/>
                </a:solidFill>
                <a:latin typeface="Arial"/>
                <a:ea typeface="Arial"/>
                <a:cs typeface="Arial"/>
              </a:rPr>
              <a:t>emosi, kebutuhan, dan risiko dibaca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6E538A-50EB-43C2-A015-D21B6AB383B2}"/>
              </a:ext>
            </a:extLst>
          </p:cNvPr>
          <p:cNvSpPr>
            <a:spLocks noGrp="1"/>
          </p:cNvSpPr>
          <p:nvPr/>
        </p:nvSpPr>
        <p:spPr>
          <a:xfrm>
            <a:off x="5591175" y="2533650"/>
            <a:ext cx="4381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225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A756168-B55E-4468-B586-029C1BEC9EE9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2209800" cy="1409700"/>
          </a:xfrm>
          <a:prstGeom prst="roundRect">
            <a:avLst>
              <a:gd name="adj" fmla="val 5405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B3544F-6446-4DDD-8693-2976DA43861C}"/>
              </a:ext>
            </a:extLst>
          </p:cNvPr>
          <p:cNvSpPr>
            <a:spLocks noGrp="1"/>
          </p:cNvSpPr>
          <p:nvPr/>
        </p:nvSpPr>
        <p:spPr>
          <a:xfrm>
            <a:off x="6267450" y="2238375"/>
            <a:ext cx="1866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Kebijakan dialog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7E010D-E485-427C-89F1-D3069A8785EC}"/>
              </a:ext>
            </a:extLst>
          </p:cNvPr>
          <p:cNvSpPr>
            <a:spLocks noGrp="1"/>
          </p:cNvSpPr>
          <p:nvPr/>
        </p:nvSpPr>
        <p:spPr>
          <a:xfrm>
            <a:off x="6267450" y="2686050"/>
            <a:ext cx="18669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0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8A7667"/>
                </a:solidFill>
                <a:latin typeface="Arial"/>
                <a:ea typeface="Arial"/>
                <a:cs typeface="Arial"/>
              </a:rPr>
              <a:t>teknik reflektif dipilih bila relevan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47FFDA-AFAA-4253-9A37-CEAD6A7AD601}"/>
              </a:ext>
            </a:extLst>
          </p:cNvPr>
          <p:cNvSpPr>
            <a:spLocks noGrp="1"/>
          </p:cNvSpPr>
          <p:nvPr/>
        </p:nvSpPr>
        <p:spPr>
          <a:xfrm>
            <a:off x="8305800" y="2533650"/>
            <a:ext cx="4381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225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2B5872F-DC8F-41E3-A130-6B1A55E00719}"/>
              </a:ext>
            </a:extLst>
          </p:cNvPr>
          <p:cNvSpPr>
            <a:spLocks noGrp="1"/>
          </p:cNvSpPr>
          <p:nvPr/>
        </p:nvSpPr>
        <p:spPr>
          <a:xfrm>
            <a:off x="8810625" y="2000250"/>
            <a:ext cx="2209800" cy="1409700"/>
          </a:xfrm>
          <a:prstGeom prst="roundRect">
            <a:avLst>
              <a:gd name="adj" fmla="val 5405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C84F27-FA9A-424B-AAEC-FCA3B7553F1F}"/>
              </a:ext>
            </a:extLst>
          </p:cNvPr>
          <p:cNvSpPr>
            <a:spLocks noGrp="1"/>
          </p:cNvSpPr>
          <p:nvPr/>
        </p:nvSpPr>
        <p:spPr>
          <a:xfrm>
            <a:off x="8982075" y="2238375"/>
            <a:ext cx="1866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Respons aman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14D664-5EA9-449E-BB6A-C4DC4F92D3FE}"/>
              </a:ext>
            </a:extLst>
          </p:cNvPr>
          <p:cNvSpPr>
            <a:spLocks noGrp="1"/>
          </p:cNvSpPr>
          <p:nvPr/>
        </p:nvSpPr>
        <p:spPr>
          <a:xfrm>
            <a:off x="8982075" y="2686050"/>
            <a:ext cx="18669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0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8A7667"/>
                </a:solidFill>
                <a:latin typeface="Arial"/>
                <a:ea typeface="Arial"/>
                <a:cs typeface="Arial"/>
              </a:rPr>
              <a:t>batas non-klinis dan rujukan berlaku saat perlu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50D3F9-5E39-4DCB-B74B-BF2B9B147601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125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Teknik yang dapat muncul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55CD100-99C0-43B6-A1A1-BD4C8617C750}"/>
              </a:ext>
            </a:extLst>
          </p:cNvPr>
          <p:cNvSpPr>
            <a:spLocks noGrp="1"/>
          </p:cNvSpPr>
          <p:nvPr/>
        </p:nvSpPr>
        <p:spPr>
          <a:xfrm>
            <a:off x="666750" y="4400550"/>
            <a:ext cx="2333625" cy="266700"/>
          </a:xfrm>
          <a:prstGeom prst="roundRect">
            <a:avLst>
              <a:gd name="adj" fmla="val 28571"/>
            </a:avLst>
          </a:prstGeom>
          <a:solidFill>
            <a:srgbClr val="F0DFCF"/>
          </a:solidFill>
          <a:ln w="9525">
            <a:solidFill>
              <a:srgbClr val="F0DF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FEE4DD-F236-42E7-8CB2-172BEF111E5F}"/>
              </a:ext>
            </a:extLst>
          </p:cNvPr>
          <p:cNvSpPr>
            <a:spLocks noGrp="1"/>
          </p:cNvSpPr>
          <p:nvPr/>
        </p:nvSpPr>
        <p:spPr>
          <a:xfrm>
            <a:off x="666750" y="4448175"/>
            <a:ext cx="23336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7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Validasi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04A6E0E-1647-40BB-A61C-7204989A4AE1}"/>
              </a:ext>
            </a:extLst>
          </p:cNvPr>
          <p:cNvSpPr>
            <a:spLocks noGrp="1"/>
          </p:cNvSpPr>
          <p:nvPr/>
        </p:nvSpPr>
        <p:spPr>
          <a:xfrm>
            <a:off x="3333750" y="4400550"/>
            <a:ext cx="2333625" cy="266700"/>
          </a:xfrm>
          <a:prstGeom prst="roundRect">
            <a:avLst>
              <a:gd name="adj" fmla="val 28571"/>
            </a:avLst>
          </a:prstGeom>
          <a:solidFill>
            <a:srgbClr val="F0DFCF"/>
          </a:solidFill>
          <a:ln w="9525">
            <a:solidFill>
              <a:srgbClr val="F0DF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0619FD-A847-41C3-B04B-676C30706469}"/>
              </a:ext>
            </a:extLst>
          </p:cNvPr>
          <p:cNvSpPr>
            <a:spLocks noGrp="1"/>
          </p:cNvSpPr>
          <p:nvPr/>
        </p:nvSpPr>
        <p:spPr>
          <a:xfrm>
            <a:off x="3333750" y="4448175"/>
            <a:ext cx="23336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7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Reframing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485D897-9B0D-4E16-B937-D6EF640080ED}"/>
              </a:ext>
            </a:extLst>
          </p:cNvPr>
          <p:cNvSpPr>
            <a:spLocks noGrp="1"/>
          </p:cNvSpPr>
          <p:nvPr/>
        </p:nvSpPr>
        <p:spPr>
          <a:xfrm>
            <a:off x="6000750" y="4400550"/>
            <a:ext cx="2333625" cy="266700"/>
          </a:xfrm>
          <a:prstGeom prst="roundRect">
            <a:avLst>
              <a:gd name="adj" fmla="val 28571"/>
            </a:avLst>
          </a:prstGeom>
          <a:solidFill>
            <a:srgbClr val="F0DFCF"/>
          </a:solidFill>
          <a:ln w="9525">
            <a:solidFill>
              <a:srgbClr val="F0DF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A810E96-7161-461A-B514-9AC3DE7AC2F6}"/>
              </a:ext>
            </a:extLst>
          </p:cNvPr>
          <p:cNvSpPr>
            <a:spLocks noGrp="1"/>
          </p:cNvSpPr>
          <p:nvPr/>
        </p:nvSpPr>
        <p:spPr>
          <a:xfrm>
            <a:off x="6000750" y="4448175"/>
            <a:ext cx="23336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7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Thought record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C4705E1-3F2C-437E-913E-B90A66027237}"/>
              </a:ext>
            </a:extLst>
          </p:cNvPr>
          <p:cNvSpPr>
            <a:spLocks noGrp="1"/>
          </p:cNvSpPr>
          <p:nvPr/>
        </p:nvSpPr>
        <p:spPr>
          <a:xfrm>
            <a:off x="8667750" y="4400550"/>
            <a:ext cx="2333625" cy="266700"/>
          </a:xfrm>
          <a:prstGeom prst="roundRect">
            <a:avLst>
              <a:gd name="adj" fmla="val 28571"/>
            </a:avLst>
          </a:prstGeom>
          <a:solidFill>
            <a:srgbClr val="EFE6D4"/>
          </a:solidFill>
          <a:ln w="9525">
            <a:solidFill>
              <a:srgbClr val="EFE6D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25D063-CBEE-4522-931E-41511D335CE7}"/>
              </a:ext>
            </a:extLst>
          </p:cNvPr>
          <p:cNvSpPr>
            <a:spLocks noGrp="1"/>
          </p:cNvSpPr>
          <p:nvPr/>
        </p:nvSpPr>
        <p:spPr>
          <a:xfrm>
            <a:off x="8667750" y="4448175"/>
            <a:ext cx="23336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75">
                <a:solidFill>
                  <a:srgbClr val="7A604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6049"/>
                </a:solidFill>
                <a:latin typeface="Arial"/>
                <a:ea typeface="Arial"/>
                <a:cs typeface="Arial"/>
              </a:rPr>
              <a:t>Grounding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AA3DD81-0D52-4C6A-948A-A8E94F994BB4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2333625" cy="266700"/>
          </a:xfrm>
          <a:prstGeom prst="roundRect">
            <a:avLst>
              <a:gd name="adj" fmla="val 28571"/>
            </a:avLst>
          </a:prstGeom>
          <a:solidFill>
            <a:srgbClr val="F0DFCF"/>
          </a:solidFill>
          <a:ln w="9525">
            <a:solidFill>
              <a:srgbClr val="F0DF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83B7FA-34C1-4EC4-8C65-174A3E043484}"/>
              </a:ext>
            </a:extLst>
          </p:cNvPr>
          <p:cNvSpPr>
            <a:spLocks noGrp="1"/>
          </p:cNvSpPr>
          <p:nvPr/>
        </p:nvSpPr>
        <p:spPr>
          <a:xfrm>
            <a:off x="666750" y="4905375"/>
            <a:ext cx="23336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7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Aktivasi perilaku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2A15BB8-F61A-4708-8631-380ED8CCCC0E}"/>
              </a:ext>
            </a:extLst>
          </p:cNvPr>
          <p:cNvSpPr>
            <a:spLocks noGrp="1"/>
          </p:cNvSpPr>
          <p:nvPr/>
        </p:nvSpPr>
        <p:spPr>
          <a:xfrm>
            <a:off x="3333750" y="4857750"/>
            <a:ext cx="2333625" cy="266700"/>
          </a:xfrm>
          <a:prstGeom prst="roundRect">
            <a:avLst>
              <a:gd name="adj" fmla="val 28571"/>
            </a:avLst>
          </a:prstGeom>
          <a:solidFill>
            <a:srgbClr val="F0DFCF"/>
          </a:solidFill>
          <a:ln w="9525">
            <a:solidFill>
              <a:srgbClr val="F0DF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0A98DE-6006-4C06-A2F6-56BBFF4F044E}"/>
              </a:ext>
            </a:extLst>
          </p:cNvPr>
          <p:cNvSpPr>
            <a:spLocks noGrp="1"/>
          </p:cNvSpPr>
          <p:nvPr/>
        </p:nvSpPr>
        <p:spPr>
          <a:xfrm>
            <a:off x="3333750" y="4905375"/>
            <a:ext cx="23336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7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Psikoedukasi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303B964-964D-4544-AAE6-E91900D8EC82}"/>
              </a:ext>
            </a:extLst>
          </p:cNvPr>
          <p:cNvSpPr>
            <a:spLocks noGrp="1"/>
          </p:cNvSpPr>
          <p:nvPr/>
        </p:nvSpPr>
        <p:spPr>
          <a:xfrm>
            <a:off x="6000750" y="4857750"/>
            <a:ext cx="2333625" cy="266700"/>
          </a:xfrm>
          <a:prstGeom prst="roundRect">
            <a:avLst>
              <a:gd name="adj" fmla="val 28571"/>
            </a:avLst>
          </a:prstGeom>
          <a:solidFill>
            <a:srgbClr val="F0DFCF"/>
          </a:solidFill>
          <a:ln w="9525">
            <a:solidFill>
              <a:srgbClr val="F0DF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7F562C-AEA3-4FDA-AED0-080B92D41A4D}"/>
              </a:ext>
            </a:extLst>
          </p:cNvPr>
          <p:cNvSpPr>
            <a:spLocks noGrp="1"/>
          </p:cNvSpPr>
          <p:nvPr/>
        </p:nvSpPr>
        <p:spPr>
          <a:xfrm>
            <a:off x="6000750" y="4905375"/>
            <a:ext cx="23336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7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Self-compassion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1CFF24-829F-4C6A-9B09-581430E2060B}"/>
              </a:ext>
            </a:extLst>
          </p:cNvPr>
          <p:cNvSpPr>
            <a:spLocks noGrp="1"/>
          </p:cNvSpPr>
          <p:nvPr/>
        </p:nvSpPr>
        <p:spPr>
          <a:xfrm>
            <a:off x="666750" y="55816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Teknik bukan menu yang dipaksakan. Sistem dapat memilih validasi atau percakapan biasa ketika teknik baru tidak diperlukan.</a:t>
            </a:r>
          </a:p>
        </p:txBody>
      </p:sp>
    </p:spTree>
    <p:extLst>
      <p:ext uri="{BB962C8B-B14F-4D97-AF65-F5344CB8AC3E}">
        <p14:creationId xmlns:p14="http://schemas.microsoft.com/office/powerpoint/2010/main" val="1741923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F49B39E-BFA6-4106-81DC-0A0ACC4BBDAF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90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FCCACE-9290-41BE-99D8-586FD6600D97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24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Mood harian dan PHQ-9 masuk sebagai percakapan bertahap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DDBADDAB-0D6B-4D06-9D1C-C37D5B10CA86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8585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1210F8-DD76-433C-BB0B-017B84B3AF94}"/>
              </a:ext>
            </a:extLst>
          </p:cNvPr>
          <p:cNvSpPr>
            <a:spLocks noGrp="1"/>
          </p:cNvSpPr>
          <p:nvPr/>
        </p:nvSpPr>
        <p:spPr>
          <a:xfrm>
            <a:off x="6667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MASALAH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EB7149F0-C2F8-4822-9076-B3C469CCEA3D}"/>
              </a:ext>
            </a:extLst>
          </p:cNvPr>
          <p:cNvSpPr>
            <a:spLocks noGrp="1"/>
          </p:cNvSpPr>
          <p:nvPr/>
        </p:nvSpPr>
        <p:spPr>
          <a:xfrm>
            <a:off x="6667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D26D4-CE2A-4432-A736-E8484449F96D}"/>
              </a:ext>
            </a:extLst>
          </p:cNvPr>
          <p:cNvSpPr>
            <a:spLocks noGrp="1"/>
          </p:cNvSpPr>
          <p:nvPr/>
        </p:nvSpPr>
        <p:spPr>
          <a:xfrm>
            <a:off x="18859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798E292-7B51-47F9-B188-A8DA2D657AC4}"/>
              </a:ext>
            </a:extLst>
          </p:cNvPr>
          <p:cNvSpPr>
            <a:spLocks noGrp="1"/>
          </p:cNvSpPr>
          <p:nvPr/>
        </p:nvSpPr>
        <p:spPr>
          <a:xfrm>
            <a:off x="1885950" y="6715125"/>
            <a:ext cx="1104900" cy="0"/>
          </a:xfrm>
          <a:prstGeom prst="line">
            <a:avLst/>
          </a:prstGeom>
          <a:ln w="28575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5EB73C-929D-48E6-A0C6-E737B5707F91}"/>
              </a:ext>
            </a:extLst>
          </p:cNvPr>
          <p:cNvSpPr>
            <a:spLocks noGrp="1"/>
          </p:cNvSpPr>
          <p:nvPr/>
        </p:nvSpPr>
        <p:spPr>
          <a:xfrm>
            <a:off x="31051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IMPLEMENTASI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AEB9082-7678-4D94-9E85-D506204FE02C}"/>
              </a:ext>
            </a:extLst>
          </p:cNvPr>
          <p:cNvSpPr>
            <a:spLocks noGrp="1"/>
          </p:cNvSpPr>
          <p:nvPr/>
        </p:nvSpPr>
        <p:spPr>
          <a:xfrm>
            <a:off x="31051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56D3F0-441A-4E3C-A8FC-3EDE84C8BDED}"/>
              </a:ext>
            </a:extLst>
          </p:cNvPr>
          <p:cNvSpPr>
            <a:spLocks noGrp="1"/>
          </p:cNvSpPr>
          <p:nvPr/>
        </p:nvSpPr>
        <p:spPr>
          <a:xfrm>
            <a:off x="43243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05AFF509-ECA5-4F49-99D3-5313719669B7}"/>
              </a:ext>
            </a:extLst>
          </p:cNvPr>
          <p:cNvSpPr>
            <a:spLocks noGrp="1"/>
          </p:cNvSpPr>
          <p:nvPr/>
        </p:nvSpPr>
        <p:spPr>
          <a:xfrm>
            <a:off x="43243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34BB69-C585-407A-A9C1-02C94E925FC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D2F098F-FF7D-4A72-A2E5-64A63CA2DDD2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857750" cy="4238625"/>
          </a:xfrm>
          <a:prstGeom prst="roundRect">
            <a:avLst>
              <a:gd name="adj" fmla="val 1798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88357" y="1695450"/>
            <a:ext cx="3214537" cy="368617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85F4793-BDE8-4B19-BE06-AA59A2CD9322}"/>
              </a:ext>
            </a:extLst>
          </p:cNvPr>
          <p:cNvSpPr>
            <a:spLocks noGrp="1"/>
          </p:cNvSpPr>
          <p:nvPr/>
        </p:nvSpPr>
        <p:spPr>
          <a:xfrm>
            <a:off x="838200" y="5429250"/>
            <a:ext cx="452437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Gambar III.4 — alur mood dan PHQ-9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EB1E20-274A-4A6D-B000-AFD1498361E0}"/>
              </a:ext>
            </a:extLst>
          </p:cNvPr>
          <p:cNvSpPr>
            <a:spLocks noGrp="1"/>
          </p:cNvSpPr>
          <p:nvPr/>
        </p:nvSpPr>
        <p:spPr>
          <a:xfrm>
            <a:off x="6191250" y="1752600"/>
            <a:ext cx="4095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42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Empat keputusan pengalaman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3567D34-BF39-40FA-8E48-E794E125E9A1}"/>
              </a:ext>
            </a:extLst>
          </p:cNvPr>
          <p:cNvSpPr>
            <a:spLocks noGrp="1"/>
          </p:cNvSpPr>
          <p:nvPr/>
        </p:nvSpPr>
        <p:spPr>
          <a:xfrm>
            <a:off x="6191250" y="22098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0DFCF"/>
          </a:solidFill>
          <a:ln w="9525">
            <a:solidFill>
              <a:srgbClr val="F0DF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CEB944-30D1-473B-A0A1-6075ED90CE3C}"/>
              </a:ext>
            </a:extLst>
          </p:cNvPr>
          <p:cNvSpPr>
            <a:spLocks noGrp="1"/>
          </p:cNvSpPr>
          <p:nvPr/>
        </p:nvSpPr>
        <p:spPr>
          <a:xfrm>
            <a:off x="6191250" y="232410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12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298159-EA24-41FB-9906-649DE4AE92F9}"/>
              </a:ext>
            </a:extLst>
          </p:cNvPr>
          <p:cNvSpPr>
            <a:spLocks noGrp="1"/>
          </p:cNvSpPr>
          <p:nvPr/>
        </p:nvSpPr>
        <p:spPr>
          <a:xfrm>
            <a:off x="6858000" y="2266950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Mood harian memberi konteks singkat, bukan diagnosis.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C5A61BB-9DCD-477A-8D77-B09B602E4A18}"/>
              </a:ext>
            </a:extLst>
          </p:cNvPr>
          <p:cNvSpPr>
            <a:spLocks noGrp="1"/>
          </p:cNvSpPr>
          <p:nvPr/>
        </p:nvSpPr>
        <p:spPr>
          <a:xfrm>
            <a:off x="6191250" y="29527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0DFCF"/>
          </a:solidFill>
          <a:ln w="9525">
            <a:solidFill>
              <a:srgbClr val="F0DF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C957D8-E49F-451F-BA01-101DC4E39E59}"/>
              </a:ext>
            </a:extLst>
          </p:cNvPr>
          <p:cNvSpPr>
            <a:spLocks noGrp="1"/>
          </p:cNvSpPr>
          <p:nvPr/>
        </p:nvSpPr>
        <p:spPr>
          <a:xfrm>
            <a:off x="6191250" y="30670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12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8FE283-E979-4009-A124-EA04B5C13321}"/>
              </a:ext>
            </a:extLst>
          </p:cNvPr>
          <p:cNvSpPr>
            <a:spLocks noGrp="1"/>
          </p:cNvSpPr>
          <p:nvPr/>
        </p:nvSpPr>
        <p:spPr>
          <a:xfrm>
            <a:off x="6858000" y="3009900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Tawaran skrining mempertimbangkan waktu, percakapan, dan pilihan pengguna.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68BF5A6-64EF-405A-B77B-7C1806C6F446}"/>
              </a:ext>
            </a:extLst>
          </p:cNvPr>
          <p:cNvSpPr>
            <a:spLocks noGrp="1"/>
          </p:cNvSpPr>
          <p:nvPr/>
        </p:nvSpPr>
        <p:spPr>
          <a:xfrm>
            <a:off x="6191250" y="36957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0DFCF"/>
          </a:solidFill>
          <a:ln w="9525">
            <a:solidFill>
              <a:srgbClr val="F0DF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E983BC-AFC1-416D-98F0-4DC3FC82A045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12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41EC81-A08B-4CE6-AA54-F100E3CD028A}"/>
              </a:ext>
            </a:extLst>
          </p:cNvPr>
          <p:cNvSpPr>
            <a:spLocks noGrp="1"/>
          </p:cNvSpPr>
          <p:nvPr/>
        </p:nvSpPr>
        <p:spPr>
          <a:xfrm>
            <a:off x="6858000" y="3752850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Setiap item dapat dijawab melalui pilihan atau bahasa pengguna sendiri.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471B900-F7F1-456E-8A42-9D09F884D08B}"/>
              </a:ext>
            </a:extLst>
          </p:cNvPr>
          <p:cNvSpPr>
            <a:spLocks noGrp="1"/>
          </p:cNvSpPr>
          <p:nvPr/>
        </p:nvSpPr>
        <p:spPr>
          <a:xfrm>
            <a:off x="6191250" y="44386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8924F"/>
          </a:solidFill>
          <a:ln w="9525">
            <a:solidFill>
              <a:srgbClr val="C8924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8FDBC8-E3CF-465D-B1F5-E8BB68E9E0CC}"/>
              </a:ext>
            </a:extLst>
          </p:cNvPr>
          <p:cNvSpPr>
            <a:spLocks noGrp="1"/>
          </p:cNvSpPr>
          <p:nvPr/>
        </p:nvSpPr>
        <p:spPr>
          <a:xfrm>
            <a:off x="6191250" y="4552950"/>
            <a:ext cx="4191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125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EEC9FB-C8AC-4E84-8A6D-1AFBAADC0834}"/>
              </a:ext>
            </a:extLst>
          </p:cNvPr>
          <p:cNvSpPr>
            <a:spLocks noGrp="1"/>
          </p:cNvSpPr>
          <p:nvPr/>
        </p:nvSpPr>
        <p:spPr>
          <a:xfrm>
            <a:off x="6858000" y="4495800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Item keselamatan ditangani segera tanpa menunggu seluruh pengisian.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A524DAD-7B03-4538-AA3D-DAB0E4C15226}"/>
              </a:ext>
            </a:extLst>
          </p:cNvPr>
          <p:cNvSpPr>
            <a:spLocks noGrp="1"/>
          </p:cNvSpPr>
          <p:nvPr/>
        </p:nvSpPr>
        <p:spPr>
          <a:xfrm>
            <a:off x="6191250" y="5286375"/>
            <a:ext cx="4714875" cy="533400"/>
          </a:xfrm>
          <a:prstGeom prst="roundRect">
            <a:avLst>
              <a:gd name="adj" fmla="val 14286"/>
            </a:avLst>
          </a:prstGeom>
          <a:solidFill>
            <a:srgbClr val="F9ECD2"/>
          </a:solidFill>
          <a:ln w="9525">
            <a:solidFill>
              <a:srgbClr val="F9ECD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4958FD-6F53-4D8D-B97A-B2FD7F2FE9ED}"/>
              </a:ext>
            </a:extLst>
          </p:cNvPr>
          <p:cNvSpPr>
            <a:spLocks noGrp="1"/>
          </p:cNvSpPr>
          <p:nvPr/>
        </p:nvSpPr>
        <p:spPr>
          <a:xfrm>
            <a:off x="6381750" y="5448300"/>
            <a:ext cx="433387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12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PHQ-9 diposisikan sebagai skrining dan alat refleksi, bukan diagnosis.</a:t>
            </a:r>
          </a:p>
        </p:txBody>
      </p:sp>
    </p:spTree>
    <p:extLst>
      <p:ext uri="{BB962C8B-B14F-4D97-AF65-F5344CB8AC3E}">
        <p14:creationId xmlns:p14="http://schemas.microsoft.com/office/powerpoint/2010/main" val="1907705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1178C55-B21B-4741-8952-830260FD9E8B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90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BC3CEA-9810-4FFC-9D16-9ECB96DA8C27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24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Memori jangka panjang: disaring, dihubungkan, lalu dipilih kembali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C3EC696-52D8-460B-9202-D7871A44AF24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8585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980505-8230-4D31-9816-E67273C48BCF}"/>
              </a:ext>
            </a:extLst>
          </p:cNvPr>
          <p:cNvSpPr>
            <a:spLocks noGrp="1"/>
          </p:cNvSpPr>
          <p:nvPr/>
        </p:nvSpPr>
        <p:spPr>
          <a:xfrm>
            <a:off x="6667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MASALAH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008F599A-C382-4D5C-994A-85BB1D1A8630}"/>
              </a:ext>
            </a:extLst>
          </p:cNvPr>
          <p:cNvSpPr>
            <a:spLocks noGrp="1"/>
          </p:cNvSpPr>
          <p:nvPr/>
        </p:nvSpPr>
        <p:spPr>
          <a:xfrm>
            <a:off x="6667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0BABC9-4BDE-4C9E-928A-8204A606B805}"/>
              </a:ext>
            </a:extLst>
          </p:cNvPr>
          <p:cNvSpPr>
            <a:spLocks noGrp="1"/>
          </p:cNvSpPr>
          <p:nvPr/>
        </p:nvSpPr>
        <p:spPr>
          <a:xfrm>
            <a:off x="18859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E12FB041-EAC3-423A-AA34-BABE75B50F47}"/>
              </a:ext>
            </a:extLst>
          </p:cNvPr>
          <p:cNvSpPr>
            <a:spLocks noGrp="1"/>
          </p:cNvSpPr>
          <p:nvPr/>
        </p:nvSpPr>
        <p:spPr>
          <a:xfrm>
            <a:off x="1885950" y="6715125"/>
            <a:ext cx="1104900" cy="0"/>
          </a:xfrm>
          <a:prstGeom prst="line">
            <a:avLst/>
          </a:prstGeom>
          <a:ln w="28575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F13EC9-2F7B-4F79-9618-F6202102B75F}"/>
              </a:ext>
            </a:extLst>
          </p:cNvPr>
          <p:cNvSpPr>
            <a:spLocks noGrp="1"/>
          </p:cNvSpPr>
          <p:nvPr/>
        </p:nvSpPr>
        <p:spPr>
          <a:xfrm>
            <a:off x="31051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IMPLEMENTASI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2740DAE9-7E59-4C64-AD1D-C7145C82A5BB}"/>
              </a:ext>
            </a:extLst>
          </p:cNvPr>
          <p:cNvSpPr>
            <a:spLocks noGrp="1"/>
          </p:cNvSpPr>
          <p:nvPr/>
        </p:nvSpPr>
        <p:spPr>
          <a:xfrm>
            <a:off x="31051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07AE0B-CBAC-4F84-ACD2-8764FAF0896B}"/>
              </a:ext>
            </a:extLst>
          </p:cNvPr>
          <p:cNvSpPr>
            <a:spLocks noGrp="1"/>
          </p:cNvSpPr>
          <p:nvPr/>
        </p:nvSpPr>
        <p:spPr>
          <a:xfrm>
            <a:off x="43243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CCEC593-A4E1-46CD-98F7-44C2238A1900}"/>
              </a:ext>
            </a:extLst>
          </p:cNvPr>
          <p:cNvSpPr>
            <a:spLocks noGrp="1"/>
          </p:cNvSpPr>
          <p:nvPr/>
        </p:nvSpPr>
        <p:spPr>
          <a:xfrm>
            <a:off x="43243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EEE4E4-C276-41C3-9394-BD0ED4FD0A20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8810A2E-EA7A-4ED2-BC2B-4AA732DFF115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5381625" cy="4286250"/>
          </a:xfrm>
          <a:prstGeom prst="roundRect">
            <a:avLst>
              <a:gd name="adj" fmla="val 1778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82143" y="1714500"/>
            <a:ext cx="2960363" cy="37147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22A1AA6-B946-41AB-A08A-E9DAFCD4B735}"/>
              </a:ext>
            </a:extLst>
          </p:cNvPr>
          <p:cNvSpPr>
            <a:spLocks noGrp="1"/>
          </p:cNvSpPr>
          <p:nvPr/>
        </p:nvSpPr>
        <p:spPr>
          <a:xfrm>
            <a:off x="857250" y="5467350"/>
            <a:ext cx="50006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Gambar III.5 — penulisan dan siklus hidup memori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013216-1B95-4B5E-BDEF-5E8915D078EA}"/>
              </a:ext>
            </a:extLst>
          </p:cNvPr>
          <p:cNvSpPr>
            <a:spLocks noGrp="1"/>
          </p:cNvSpPr>
          <p:nvPr/>
        </p:nvSpPr>
        <p:spPr>
          <a:xfrm>
            <a:off x="6715125" y="175260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50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Keputusan inti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D5DE040-138C-4C99-AB2D-63EFE88EECFB}"/>
              </a:ext>
            </a:extLst>
          </p:cNvPr>
          <p:cNvSpPr>
            <a:spLocks noGrp="1"/>
          </p:cNvSpPr>
          <p:nvPr/>
        </p:nvSpPr>
        <p:spPr>
          <a:xfrm>
            <a:off x="6715125" y="2266950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EFE6D4"/>
          </a:solidFill>
          <a:ln w="9525">
            <a:solidFill>
              <a:srgbClr val="EFE6D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DDA3F3-750B-4923-BBC8-9137F3000191}"/>
              </a:ext>
            </a:extLst>
          </p:cNvPr>
          <p:cNvSpPr>
            <a:spLocks noGrp="1"/>
          </p:cNvSpPr>
          <p:nvPr/>
        </p:nvSpPr>
        <p:spPr>
          <a:xfrm>
            <a:off x="6715125" y="2314575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75">
                <a:solidFill>
                  <a:srgbClr val="7A604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604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FA4FC9-9C35-4034-8CB1-681FBC35BF1A}"/>
              </a:ext>
            </a:extLst>
          </p:cNvPr>
          <p:cNvSpPr>
            <a:spLocks noGrp="1"/>
          </p:cNvSpPr>
          <p:nvPr/>
        </p:nvSpPr>
        <p:spPr>
          <a:xfrm>
            <a:off x="7239000" y="2247900"/>
            <a:ext cx="3810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0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Sesi reguler disaring sebelum menjadi memori; administrasi PHQ-9 dan Confession Space dikecualikan.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7BAD672-6819-4D0F-992E-200035101BAD}"/>
              </a:ext>
            </a:extLst>
          </p:cNvPr>
          <p:cNvSpPr>
            <a:spLocks noGrp="1"/>
          </p:cNvSpPr>
          <p:nvPr/>
        </p:nvSpPr>
        <p:spPr>
          <a:xfrm>
            <a:off x="6715125" y="3152775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F0DFCF"/>
          </a:solidFill>
          <a:ln w="9525">
            <a:solidFill>
              <a:srgbClr val="F0DF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2C984F-D056-43F0-B811-F028B3B7A61F}"/>
              </a:ext>
            </a:extLst>
          </p:cNvPr>
          <p:cNvSpPr>
            <a:spLocks noGrp="1"/>
          </p:cNvSpPr>
          <p:nvPr/>
        </p:nvSpPr>
        <p:spPr>
          <a:xfrm>
            <a:off x="6715125" y="32004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7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9DDB0A-58AC-43C7-9721-8798F1A4CAFD}"/>
              </a:ext>
            </a:extLst>
          </p:cNvPr>
          <p:cNvSpPr>
            <a:spLocks noGrp="1"/>
          </p:cNvSpPr>
          <p:nvPr/>
        </p:nvSpPr>
        <p:spPr>
          <a:xfrm>
            <a:off x="7239000" y="3133725"/>
            <a:ext cx="3810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0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Graf menjaga hubungan antarmemori, sedangkan vektor membantu menemukan kemiripan semantik.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0268BF4-343A-4C5E-919A-F1DD05F40B54}"/>
              </a:ext>
            </a:extLst>
          </p:cNvPr>
          <p:cNvSpPr>
            <a:spLocks noGrp="1"/>
          </p:cNvSpPr>
          <p:nvPr/>
        </p:nvSpPr>
        <p:spPr>
          <a:xfrm>
            <a:off x="6715125" y="4038600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EFE6D4"/>
          </a:solidFill>
          <a:ln w="9525">
            <a:solidFill>
              <a:srgbClr val="EFE6D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E48589-0EAF-4E25-9A0D-C8F27856A946}"/>
              </a:ext>
            </a:extLst>
          </p:cNvPr>
          <p:cNvSpPr>
            <a:spLocks noGrp="1"/>
          </p:cNvSpPr>
          <p:nvPr/>
        </p:nvSpPr>
        <p:spPr>
          <a:xfrm>
            <a:off x="6715125" y="4086225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75">
                <a:solidFill>
                  <a:srgbClr val="7A604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604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0C07EE-9C67-4ADF-A0A8-0AF63AF1A17E}"/>
              </a:ext>
            </a:extLst>
          </p:cNvPr>
          <p:cNvSpPr>
            <a:spLocks noGrp="1"/>
          </p:cNvSpPr>
          <p:nvPr/>
        </p:nvSpPr>
        <p:spPr>
          <a:xfrm>
            <a:off x="7239000" y="4019550"/>
            <a:ext cx="3810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0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Pemaknaan ulang dapat menggantikan memori lama; peluruhan dan pengarsipan membatasi konteks.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1C40893-D769-4374-8CA5-1B79DD950507}"/>
              </a:ext>
            </a:extLst>
          </p:cNvPr>
          <p:cNvSpPr>
            <a:spLocks noGrp="1"/>
          </p:cNvSpPr>
          <p:nvPr/>
        </p:nvSpPr>
        <p:spPr>
          <a:xfrm>
            <a:off x="6715125" y="5191125"/>
            <a:ext cx="4238625" cy="552450"/>
          </a:xfrm>
          <a:prstGeom prst="roundRect">
            <a:avLst>
              <a:gd name="adj" fmla="val 13793"/>
            </a:avLst>
          </a:prstGeom>
          <a:solidFill>
            <a:srgbClr val="F0DFCF"/>
          </a:solidFill>
          <a:ln w="9525">
            <a:solidFill>
              <a:srgbClr val="F0DF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E9F911-ABE5-4AE9-9299-1A16128DBF0E}"/>
              </a:ext>
            </a:extLst>
          </p:cNvPr>
          <p:cNvSpPr>
            <a:spLocks noGrp="1"/>
          </p:cNvSpPr>
          <p:nvPr/>
        </p:nvSpPr>
        <p:spPr>
          <a:xfrm>
            <a:off x="6905625" y="5324475"/>
            <a:ext cx="3857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0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Nilai graf yang diuji: kesinambungan konteks, relasi, dan lifecycle — bukan klaim otomatis peningkatan empati.</a:t>
            </a:r>
          </a:p>
        </p:txBody>
      </p:sp>
    </p:spTree>
    <p:extLst>
      <p:ext uri="{BB962C8B-B14F-4D97-AF65-F5344CB8AC3E}">
        <p14:creationId xmlns:p14="http://schemas.microsoft.com/office/powerpoint/2010/main" val="321004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16BAC9C-B616-480C-8FF5-62246C4A1D83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90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IMPLEMENTASI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50BB08-825E-497E-94C6-D1755DDA5871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24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Topologi pipeline agentik AXIS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B017ECF-A381-4498-B455-7D3C96ACE8D2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8585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246BC5-D8EB-4A0C-9252-FB4AFBF0D13C}"/>
              </a:ext>
            </a:extLst>
          </p:cNvPr>
          <p:cNvSpPr>
            <a:spLocks noGrp="1"/>
          </p:cNvSpPr>
          <p:nvPr/>
        </p:nvSpPr>
        <p:spPr>
          <a:xfrm>
            <a:off x="6667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MASALAH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F1AC03FA-9E27-461F-AA78-5579AB08755D}"/>
              </a:ext>
            </a:extLst>
          </p:cNvPr>
          <p:cNvSpPr>
            <a:spLocks noGrp="1"/>
          </p:cNvSpPr>
          <p:nvPr/>
        </p:nvSpPr>
        <p:spPr>
          <a:xfrm>
            <a:off x="6667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3A60BB-FAE1-415A-A628-0BC515569C8E}"/>
              </a:ext>
            </a:extLst>
          </p:cNvPr>
          <p:cNvSpPr>
            <a:spLocks noGrp="1"/>
          </p:cNvSpPr>
          <p:nvPr/>
        </p:nvSpPr>
        <p:spPr>
          <a:xfrm>
            <a:off x="18859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188633BC-DCBB-41DF-B2B8-99C2CAD3A321}"/>
              </a:ext>
            </a:extLst>
          </p:cNvPr>
          <p:cNvSpPr>
            <a:spLocks noGrp="1"/>
          </p:cNvSpPr>
          <p:nvPr/>
        </p:nvSpPr>
        <p:spPr>
          <a:xfrm>
            <a:off x="18859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29A838-5177-4936-A5DA-A6051FC27FBD}"/>
              </a:ext>
            </a:extLst>
          </p:cNvPr>
          <p:cNvSpPr>
            <a:spLocks noGrp="1"/>
          </p:cNvSpPr>
          <p:nvPr/>
        </p:nvSpPr>
        <p:spPr>
          <a:xfrm>
            <a:off x="31051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IMPLEMENTASI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D4EA55B-F544-4088-8883-064F198D01B4}"/>
              </a:ext>
            </a:extLst>
          </p:cNvPr>
          <p:cNvSpPr>
            <a:spLocks noGrp="1"/>
          </p:cNvSpPr>
          <p:nvPr/>
        </p:nvSpPr>
        <p:spPr>
          <a:xfrm>
            <a:off x="3105150" y="6715125"/>
            <a:ext cx="1104900" cy="0"/>
          </a:xfrm>
          <a:prstGeom prst="line">
            <a:avLst/>
          </a:prstGeom>
          <a:ln w="28575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061CEE-81AE-421C-841B-8678281789C0}"/>
              </a:ext>
            </a:extLst>
          </p:cNvPr>
          <p:cNvSpPr>
            <a:spLocks noGrp="1"/>
          </p:cNvSpPr>
          <p:nvPr/>
        </p:nvSpPr>
        <p:spPr>
          <a:xfrm>
            <a:off x="43243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28A0F76-93B1-41A5-B8FD-015C820BBA8B}"/>
              </a:ext>
            </a:extLst>
          </p:cNvPr>
          <p:cNvSpPr>
            <a:spLocks noGrp="1"/>
          </p:cNvSpPr>
          <p:nvPr/>
        </p:nvSpPr>
        <p:spPr>
          <a:xfrm>
            <a:off x="43243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A0B05C-C8A6-4BB6-ACE6-F37728B84301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9B3E1-DB90-4768-A8EB-763E221A4947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6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Alur pemrosesan pesan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A4BB5F2-E759-4DFC-B379-FE73E9E5DB40}"/>
              </a:ext>
            </a:extLst>
          </p:cNvPr>
          <p:cNvSpPr>
            <a:spLocks noGrp="1"/>
          </p:cNvSpPr>
          <p:nvPr/>
        </p:nvSpPr>
        <p:spPr>
          <a:xfrm>
            <a:off x="666750" y="2209800"/>
            <a:ext cx="4667250" cy="1143000"/>
          </a:xfrm>
          <a:prstGeom prst="roundRect">
            <a:avLst>
              <a:gd name="adj" fmla="val 6667"/>
            </a:avLst>
          </a:prstGeom>
          <a:solidFill>
            <a:srgbClr val="F0DFCF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5549B1-FE08-40C6-8615-51CB9C9D97AF}"/>
              </a:ext>
            </a:extLst>
          </p:cNvPr>
          <p:cNvSpPr>
            <a:spLocks noGrp="1"/>
          </p:cNvSpPr>
          <p:nvPr/>
        </p:nvSpPr>
        <p:spPr>
          <a:xfrm>
            <a:off x="895350" y="2428875"/>
            <a:ext cx="1714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Jalur sinkron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CE794A-A640-47BB-8066-917DF7E2F488}"/>
              </a:ext>
            </a:extLst>
          </p:cNvPr>
          <p:cNvSpPr>
            <a:spLocks noGrp="1"/>
          </p:cNvSpPr>
          <p:nvPr/>
        </p:nvSpPr>
        <p:spPr>
          <a:xfrm>
            <a:off x="895350" y="2771775"/>
            <a:ext cx="4095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Aplikasi web → gateway → orkestrasi percakapan → respons pengguna.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E3CB47A-F35D-48B1-8CBF-E10ED1D3FCBF}"/>
              </a:ext>
            </a:extLst>
          </p:cNvPr>
          <p:cNvSpPr>
            <a:spLocks noGrp="1"/>
          </p:cNvSpPr>
          <p:nvPr/>
        </p:nvSpPr>
        <p:spPr>
          <a:xfrm>
            <a:off x="666750" y="3648075"/>
            <a:ext cx="4667250" cy="1143000"/>
          </a:xfrm>
          <a:prstGeom prst="roundRect">
            <a:avLst>
              <a:gd name="adj" fmla="val 6667"/>
            </a:avLst>
          </a:prstGeom>
          <a:solidFill>
            <a:srgbClr val="EFE6D4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32987C-A368-46F0-A050-336B75097BEB}"/>
              </a:ext>
            </a:extLst>
          </p:cNvPr>
          <p:cNvSpPr>
            <a:spLocks noGrp="1"/>
          </p:cNvSpPr>
          <p:nvPr/>
        </p:nvSpPr>
        <p:spPr>
          <a:xfrm>
            <a:off x="895350" y="3867150"/>
            <a:ext cx="1809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7A60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A6049"/>
                </a:solidFill>
                <a:latin typeface="Arial"/>
                <a:ea typeface="Arial"/>
                <a:cs typeface="Arial"/>
              </a:rPr>
              <a:t>Jalur asinkron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E0ECE2-EB59-4A70-BF4C-50B62272D581}"/>
              </a:ext>
            </a:extLst>
          </p:cNvPr>
          <p:cNvSpPr>
            <a:spLocks noGrp="1"/>
          </p:cNvSpPr>
          <p:nvPr/>
        </p:nvSpPr>
        <p:spPr>
          <a:xfrm>
            <a:off x="895350" y="4210050"/>
            <a:ext cx="4095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Sesi tidak aktif → finalisasi → ekstraksi dan penyimpanan memori hibrid.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3CA193-53A7-402A-A35C-BC7857F7AFB3}"/>
              </a:ext>
            </a:extLst>
          </p:cNvPr>
          <p:cNvSpPr>
            <a:spLocks noGrp="1"/>
          </p:cNvSpPr>
          <p:nvPr/>
        </p:nvSpPr>
        <p:spPr>
          <a:xfrm>
            <a:off x="666750" y="5162550"/>
            <a:ext cx="4667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7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8A7667"/>
                </a:solidFill>
                <a:latin typeface="Arial"/>
                <a:ea typeface="Arial"/>
                <a:cs typeface="Arial"/>
              </a:rPr>
              <a:t>Pemisahan ini menjaga pekerjaan ekstraksi memori tidak menambah waktu tunggu pada giliran chat.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C75230E-F797-4E63-9B36-DDEF22AF84C1}"/>
              </a:ext>
            </a:extLst>
          </p:cNvPr>
          <p:cNvSpPr>
            <a:spLocks noGrp="1"/>
          </p:cNvSpPr>
          <p:nvPr/>
        </p:nvSpPr>
        <p:spPr>
          <a:xfrm>
            <a:off x="666750" y="5857875"/>
            <a:ext cx="4667250" cy="514350"/>
          </a:xfrm>
          <a:prstGeom prst="roundRect">
            <a:avLst>
              <a:gd name="adj" fmla="val 14815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580730-A304-45F0-9068-2D4E4692100F}"/>
              </a:ext>
            </a:extLst>
          </p:cNvPr>
          <p:cNvSpPr>
            <a:spLocks noGrp="1"/>
          </p:cNvSpPr>
          <p:nvPr/>
        </p:nvSpPr>
        <p:spPr>
          <a:xfrm>
            <a:off x="876300" y="6010275"/>
            <a:ext cx="42386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97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7667"/>
                </a:solidFill>
                <a:latin typeface="Arial"/>
                <a:ea typeface="Arial"/>
                <a:cs typeface="Arial"/>
              </a:rPr>
              <a:t>Routing utama: masukan audio, mode PHQ-9, eskalasi krisis, dan keluaran suara.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0D9D0D5-04D4-43E3-8860-312CE8A6F2B1}"/>
              </a:ext>
            </a:extLst>
          </p:cNvPr>
          <p:cNvSpPr>
            <a:spLocks noGrp="1"/>
          </p:cNvSpPr>
          <p:nvPr/>
        </p:nvSpPr>
        <p:spPr>
          <a:xfrm>
            <a:off x="5857875" y="1428750"/>
            <a:ext cx="5667375" cy="4857750"/>
          </a:xfrm>
          <a:prstGeom prst="roundRect">
            <a:avLst>
              <a:gd name="adj" fmla="val 1569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27FD91-1454-45B2-952D-C8570F16866A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44767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9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Topologi satu giliran percakapan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8E0E77A-6608-4398-A4FF-32EED965D28C}"/>
              </a:ext>
            </a:extLst>
          </p:cNvPr>
          <p:cNvSpPr>
            <a:spLocks noGrp="1"/>
          </p:cNvSpPr>
          <p:nvPr/>
        </p:nvSpPr>
        <p:spPr>
          <a:xfrm>
            <a:off x="6115050" y="1924050"/>
            <a:ext cx="1562100" cy="3686175"/>
          </a:xfrm>
          <a:prstGeom prst="roundRect">
            <a:avLst>
              <a:gd name="adj" fmla="val 4878"/>
            </a:avLst>
          </a:prstGeom>
          <a:solidFill>
            <a:srgbClr val="FFFAF4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AF0986-0CED-492C-AC78-644E7066BDB7}"/>
              </a:ext>
            </a:extLst>
          </p:cNvPr>
          <p:cNvSpPr>
            <a:spLocks noGrp="1"/>
          </p:cNvSpPr>
          <p:nvPr/>
        </p:nvSpPr>
        <p:spPr>
          <a:xfrm>
            <a:off x="6210300" y="2038350"/>
            <a:ext cx="13716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82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Masukan &amp; konteks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2544627"/>
            <a:ext cx="1409700" cy="2702196"/>
          </a:xfrm>
          <a:prstGeom prst="rect">
            <a:avLst/>
          </a:prstGeom>
        </p:spPr>
      </p:pic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A06A0BD-F7CB-48E1-9042-86385B666BA8}"/>
              </a:ext>
            </a:extLst>
          </p:cNvPr>
          <p:cNvSpPr>
            <a:spLocks noGrp="1"/>
          </p:cNvSpPr>
          <p:nvPr/>
        </p:nvSpPr>
        <p:spPr>
          <a:xfrm>
            <a:off x="7858125" y="1924050"/>
            <a:ext cx="1562100" cy="3686175"/>
          </a:xfrm>
          <a:prstGeom prst="roundRect">
            <a:avLst>
              <a:gd name="adj" fmla="val 4878"/>
            </a:avLst>
          </a:prstGeom>
          <a:solidFill>
            <a:srgbClr val="FFFAF4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9972DB-9916-43CC-899F-4E8BB4B966D8}"/>
              </a:ext>
            </a:extLst>
          </p:cNvPr>
          <p:cNvSpPr>
            <a:spLocks noGrp="1"/>
          </p:cNvSpPr>
          <p:nvPr/>
        </p:nvSpPr>
        <p:spPr>
          <a:xfrm>
            <a:off x="7953375" y="2038350"/>
            <a:ext cx="13716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82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Pemilihan respons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34325" y="2544627"/>
            <a:ext cx="1409700" cy="2702196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BA627CB-FD32-4B88-BB43-DEECE1C1BE29}"/>
              </a:ext>
            </a:extLst>
          </p:cNvPr>
          <p:cNvSpPr>
            <a:spLocks noGrp="1"/>
          </p:cNvSpPr>
          <p:nvPr/>
        </p:nvSpPr>
        <p:spPr>
          <a:xfrm>
            <a:off x="9601200" y="1924050"/>
            <a:ext cx="1562100" cy="3686175"/>
          </a:xfrm>
          <a:prstGeom prst="roundRect">
            <a:avLst>
              <a:gd name="adj" fmla="val 4878"/>
            </a:avLst>
          </a:prstGeom>
          <a:solidFill>
            <a:srgbClr val="FFFAF4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897133-F4D0-40D0-B89F-2C2D03A53FF6}"/>
              </a:ext>
            </a:extLst>
          </p:cNvPr>
          <p:cNvSpPr>
            <a:spLocks noGrp="1"/>
          </p:cNvSpPr>
          <p:nvPr/>
        </p:nvSpPr>
        <p:spPr>
          <a:xfrm>
            <a:off x="9696450" y="2038350"/>
            <a:ext cx="13716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82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Keselamatan &amp; keluaran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677400" y="2544627"/>
            <a:ext cx="1409700" cy="270219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6FE0434-707B-435C-B93E-F2A587005DFF}"/>
              </a:ext>
            </a:extLst>
          </p:cNvPr>
          <p:cNvSpPr>
            <a:spLocks noGrp="1"/>
          </p:cNvSpPr>
          <p:nvPr/>
        </p:nvSpPr>
        <p:spPr>
          <a:xfrm>
            <a:off x="6191250" y="5686425"/>
            <a:ext cx="4953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Urutan asli dibaca dari kiri ke kanan: tiga panel adalah potongan berurutan dari satu diagram LangGraph.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DDADC25-610E-45A2-928D-97BCAF3C413D}"/>
              </a:ext>
            </a:extLst>
          </p:cNvPr>
          <p:cNvSpPr>
            <a:spLocks noGrp="1"/>
          </p:cNvSpPr>
          <p:nvPr/>
        </p:nvSpPr>
        <p:spPr>
          <a:xfrm>
            <a:off x="6019800" y="5953125"/>
            <a:ext cx="53340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Gambar IV.2 — topologi implementasi pipeline agentik AXIS</a:t>
            </a:r>
          </a:p>
        </p:txBody>
      </p:sp>
    </p:spTree>
    <p:extLst>
      <p:ext uri="{BB962C8B-B14F-4D97-AF65-F5344CB8AC3E}">
        <p14:creationId xmlns:p14="http://schemas.microsoft.com/office/powerpoint/2010/main" val="844268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AC63C75-202C-43C0-A536-DAB8181BE280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90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IMPLEMENTASI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9ECEC3-1D69-4028-8CA9-685F0D841BF2}"/>
              </a:ext>
            </a:extLst>
          </p:cNvPr>
          <p:cNvSpPr>
            <a:spLocks noGrp="1"/>
          </p:cNvSpPr>
          <p:nvPr/>
        </p:nvSpPr>
        <p:spPr>
          <a:xfrm>
            <a:off x="666749" y="647700"/>
            <a:ext cx="11430657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24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2475" b="1" dirty="0">
                <a:solidFill>
                  <a:srgbClr val="2D2119"/>
                </a:solidFill>
                <a:latin typeface="Arial"/>
                <a:ea typeface="Arial"/>
                <a:cs typeface="Arial"/>
              </a:rPr>
              <a:t>Fitur </a:t>
            </a:r>
            <a:r>
              <a:rPr sz="2475" b="1" dirty="0" err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pengguna</a:t>
            </a:r>
            <a:r>
              <a:rPr sz="2475" b="1" dirty="0">
                <a:solidFill>
                  <a:srgbClr val="2D2119"/>
                </a:solidFill>
                <a:latin typeface="Arial"/>
                <a:ea typeface="Arial"/>
                <a:cs typeface="Arial"/>
              </a:rPr>
              <a:t> </a:t>
            </a:r>
            <a:r>
              <a:rPr sz="2475" b="1" dirty="0" err="1">
                <a:solidFill>
                  <a:srgbClr val="2D2119"/>
                </a:solidFill>
                <a:latin typeface="Arial"/>
                <a:ea typeface="Arial"/>
                <a:cs typeface="Arial"/>
              </a:rPr>
              <a:t>menyajikan</a:t>
            </a:r>
            <a:r>
              <a:rPr sz="2475" b="1" dirty="0">
                <a:solidFill>
                  <a:srgbClr val="2D2119"/>
                </a:solidFill>
                <a:latin typeface="Arial"/>
                <a:ea typeface="Arial"/>
                <a:cs typeface="Arial"/>
              </a:rPr>
              <a:t> </a:t>
            </a:r>
            <a:r>
              <a:rPr sz="2475" b="1" dirty="0" err="1">
                <a:solidFill>
                  <a:srgbClr val="2D2119"/>
                </a:solidFill>
                <a:latin typeface="Arial"/>
                <a:ea typeface="Arial"/>
                <a:cs typeface="Arial"/>
              </a:rPr>
              <a:t>arsitektur</a:t>
            </a:r>
            <a:r>
              <a:rPr sz="2475" b="1" dirty="0">
                <a:solidFill>
                  <a:srgbClr val="2D2119"/>
                </a:solidFill>
                <a:latin typeface="Arial"/>
                <a:ea typeface="Arial"/>
                <a:cs typeface="Arial"/>
              </a:rPr>
              <a:t> </a:t>
            </a:r>
            <a:r>
              <a:rPr sz="2475" b="1" dirty="0" err="1">
                <a:solidFill>
                  <a:srgbClr val="2D2119"/>
                </a:solidFill>
                <a:latin typeface="Arial"/>
                <a:ea typeface="Arial"/>
                <a:cs typeface="Arial"/>
              </a:rPr>
              <a:t>sebagai</a:t>
            </a:r>
            <a:r>
              <a:rPr sz="2475" b="1" dirty="0">
                <a:solidFill>
                  <a:srgbClr val="2D2119"/>
                </a:solidFill>
                <a:latin typeface="Arial"/>
                <a:ea typeface="Arial"/>
                <a:cs typeface="Arial"/>
              </a:rPr>
              <a:t> </a:t>
            </a:r>
            <a:r>
              <a:rPr sz="2475" b="1" dirty="0" err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pengalaman</a:t>
            </a:r>
            <a:r>
              <a:rPr sz="2475" b="1" dirty="0">
                <a:solidFill>
                  <a:srgbClr val="2D2119"/>
                </a:solidFill>
                <a:latin typeface="Arial"/>
                <a:ea typeface="Arial"/>
                <a:cs typeface="Arial"/>
              </a:rPr>
              <a:t> </a:t>
            </a:r>
            <a:r>
              <a:rPr sz="2475" b="1" dirty="0" err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pendampingan</a:t>
            </a:r>
            <a:endParaRPr sz="2475" b="1" dirty="0">
              <a:solidFill>
                <a:srgbClr val="2D211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9D652AD-FC1C-414E-A722-7F611E6123EE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8585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C48707-CC9D-41A2-B076-724085E7D297}"/>
              </a:ext>
            </a:extLst>
          </p:cNvPr>
          <p:cNvSpPr>
            <a:spLocks noGrp="1"/>
          </p:cNvSpPr>
          <p:nvPr/>
        </p:nvSpPr>
        <p:spPr>
          <a:xfrm>
            <a:off x="6667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MASALAH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5187F3B2-AA7A-4142-A4CD-989AE70530F6}"/>
              </a:ext>
            </a:extLst>
          </p:cNvPr>
          <p:cNvSpPr>
            <a:spLocks noGrp="1"/>
          </p:cNvSpPr>
          <p:nvPr/>
        </p:nvSpPr>
        <p:spPr>
          <a:xfrm>
            <a:off x="6667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E9112A-9AB0-4399-BBF3-D8FADD3B76C6}"/>
              </a:ext>
            </a:extLst>
          </p:cNvPr>
          <p:cNvSpPr>
            <a:spLocks noGrp="1"/>
          </p:cNvSpPr>
          <p:nvPr/>
        </p:nvSpPr>
        <p:spPr>
          <a:xfrm>
            <a:off x="18859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6DC6FC9-2F64-455A-B781-9ABF9A94020B}"/>
              </a:ext>
            </a:extLst>
          </p:cNvPr>
          <p:cNvSpPr>
            <a:spLocks noGrp="1"/>
          </p:cNvSpPr>
          <p:nvPr/>
        </p:nvSpPr>
        <p:spPr>
          <a:xfrm>
            <a:off x="18859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9517D4-468D-4D02-BF13-F60523A7978D}"/>
              </a:ext>
            </a:extLst>
          </p:cNvPr>
          <p:cNvSpPr>
            <a:spLocks noGrp="1"/>
          </p:cNvSpPr>
          <p:nvPr/>
        </p:nvSpPr>
        <p:spPr>
          <a:xfrm>
            <a:off x="31051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IMPLEMENTASI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250C55C-481D-4407-A225-89C9603A057C}"/>
              </a:ext>
            </a:extLst>
          </p:cNvPr>
          <p:cNvSpPr>
            <a:spLocks noGrp="1"/>
          </p:cNvSpPr>
          <p:nvPr/>
        </p:nvSpPr>
        <p:spPr>
          <a:xfrm>
            <a:off x="3105150" y="6715125"/>
            <a:ext cx="1104900" cy="0"/>
          </a:xfrm>
          <a:prstGeom prst="line">
            <a:avLst/>
          </a:prstGeom>
          <a:ln w="28575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8EA904-0433-44D8-83A4-E0BF5B056A15}"/>
              </a:ext>
            </a:extLst>
          </p:cNvPr>
          <p:cNvSpPr>
            <a:spLocks noGrp="1"/>
          </p:cNvSpPr>
          <p:nvPr/>
        </p:nvSpPr>
        <p:spPr>
          <a:xfrm>
            <a:off x="43243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BFBF124-1DF7-4344-A536-20BFA5136DC0}"/>
              </a:ext>
            </a:extLst>
          </p:cNvPr>
          <p:cNvSpPr>
            <a:spLocks noGrp="1"/>
          </p:cNvSpPr>
          <p:nvPr/>
        </p:nvSpPr>
        <p:spPr>
          <a:xfrm>
            <a:off x="43243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E485EA-E957-4E2C-ABB6-585452ADBF9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A31C137-AF8A-462A-8D22-F0AB5F2039CF}"/>
              </a:ext>
            </a:extLst>
          </p:cNvPr>
          <p:cNvSpPr>
            <a:spLocks noGrp="1"/>
          </p:cNvSpPr>
          <p:nvPr/>
        </p:nvSpPr>
        <p:spPr>
          <a:xfrm>
            <a:off x="1190625" y="1619250"/>
            <a:ext cx="2571750" cy="3429000"/>
          </a:xfrm>
          <a:prstGeom prst="roundRect">
            <a:avLst>
              <a:gd name="adj" fmla="val 2963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67929" y="1752600"/>
            <a:ext cx="1417141" cy="30670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15D27E1-ECC7-4E66-898F-8CBC103D7C2E}"/>
              </a:ext>
            </a:extLst>
          </p:cNvPr>
          <p:cNvSpPr>
            <a:spLocks noGrp="1"/>
          </p:cNvSpPr>
          <p:nvPr/>
        </p:nvSpPr>
        <p:spPr>
          <a:xfrm>
            <a:off x="1333500" y="5219700"/>
            <a:ext cx="228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3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Chat dan refleksi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F3AF5E-1ACA-4C94-AF00-D4C0FE6FF9B4}"/>
              </a:ext>
            </a:extLst>
          </p:cNvPr>
          <p:cNvSpPr>
            <a:spLocks noGrp="1"/>
          </p:cNvSpPr>
          <p:nvPr/>
        </p:nvSpPr>
        <p:spPr>
          <a:xfrm>
            <a:off x="1304925" y="5562600"/>
            <a:ext cx="23431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7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8A7667"/>
                </a:solidFill>
                <a:latin typeface="Arial"/>
                <a:ea typeface="Arial"/>
                <a:cs typeface="Arial"/>
              </a:rPr>
              <a:t>Percakapan utama, teknik CBT, pilihan PHQ-9, dan respons keselamatan.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7DB1E0B-A185-4C7D-B559-8728786D8822}"/>
              </a:ext>
            </a:extLst>
          </p:cNvPr>
          <p:cNvSpPr>
            <a:spLocks noGrp="1"/>
          </p:cNvSpPr>
          <p:nvPr/>
        </p:nvSpPr>
        <p:spPr>
          <a:xfrm>
            <a:off x="4638675" y="1619250"/>
            <a:ext cx="2571750" cy="3429000"/>
          </a:xfrm>
          <a:prstGeom prst="roundRect">
            <a:avLst>
              <a:gd name="adj" fmla="val 2963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15979" y="1752600"/>
            <a:ext cx="1417141" cy="306705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FA2FEEB-498B-40DF-9BA2-32A854890078}"/>
              </a:ext>
            </a:extLst>
          </p:cNvPr>
          <p:cNvSpPr>
            <a:spLocks noGrp="1"/>
          </p:cNvSpPr>
          <p:nvPr/>
        </p:nvSpPr>
        <p:spPr>
          <a:xfrm>
            <a:off x="4781550" y="5219700"/>
            <a:ext cx="228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3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Suara sementara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0D07B9-02A9-4E80-B365-D90C5077AAD7}"/>
              </a:ext>
            </a:extLst>
          </p:cNvPr>
          <p:cNvSpPr>
            <a:spLocks noGrp="1"/>
          </p:cNvSpPr>
          <p:nvPr/>
        </p:nvSpPr>
        <p:spPr>
          <a:xfrm>
            <a:off x="4752975" y="5562600"/>
            <a:ext cx="23431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7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8A7667"/>
                </a:solidFill>
                <a:latin typeface="Arial"/>
                <a:ea typeface="Arial"/>
                <a:cs typeface="Arial"/>
              </a:rPr>
              <a:t>Confession Space untuk bicara dengan subtitle tanpa menjadi memori jangka panjang AXIS.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D0E9E55-4B0F-4D3D-B9DA-9BB36752E5DB}"/>
              </a:ext>
            </a:extLst>
          </p:cNvPr>
          <p:cNvSpPr>
            <a:spLocks noGrp="1"/>
          </p:cNvSpPr>
          <p:nvPr/>
        </p:nvSpPr>
        <p:spPr>
          <a:xfrm>
            <a:off x="8086725" y="1619250"/>
            <a:ext cx="2571750" cy="3429000"/>
          </a:xfrm>
          <a:prstGeom prst="roundRect">
            <a:avLst>
              <a:gd name="adj" fmla="val 2963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664029" y="1752600"/>
            <a:ext cx="1417141" cy="306705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13FBBC5-F06C-49EE-BE56-752288C8D524}"/>
              </a:ext>
            </a:extLst>
          </p:cNvPr>
          <p:cNvSpPr>
            <a:spLocks noGrp="1"/>
          </p:cNvSpPr>
          <p:nvPr/>
        </p:nvSpPr>
        <p:spPr>
          <a:xfrm>
            <a:off x="8229600" y="5219700"/>
            <a:ext cx="2286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3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Memori dan kendali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A015E0-6C88-4178-86A4-9D5788F88142}"/>
              </a:ext>
            </a:extLst>
          </p:cNvPr>
          <p:cNvSpPr>
            <a:spLocks noGrp="1"/>
          </p:cNvSpPr>
          <p:nvPr/>
        </p:nvSpPr>
        <p:spPr>
          <a:xfrm>
            <a:off x="8201025" y="5562600"/>
            <a:ext cx="23431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7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8A7667"/>
                </a:solidFill>
                <a:latin typeface="Arial"/>
                <a:ea typeface="Arial"/>
                <a:cs typeface="Arial"/>
              </a:rPr>
              <a:t>Melihat memori, menyembunyikan konten sensitif, mengubah atau menghapus data.</a:t>
            </a:r>
          </a:p>
        </p:txBody>
      </p:sp>
    </p:spTree>
    <p:extLst>
      <p:ext uri="{BB962C8B-B14F-4D97-AF65-F5344CB8AC3E}">
        <p14:creationId xmlns:p14="http://schemas.microsoft.com/office/powerpoint/2010/main" val="1556929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CDAE84E-B41A-4C0C-B4DE-5BA99BD25392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90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F2D4F6-BC9A-4DBC-8961-995841357C16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24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Tiga jalur bukti dengan status yang dibedakan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E846511-FEE6-4C1B-8809-6B54CF9AFBB5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8585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F9265A-0E0E-4F15-B7E4-F8A00E13409F}"/>
              </a:ext>
            </a:extLst>
          </p:cNvPr>
          <p:cNvSpPr>
            <a:spLocks noGrp="1"/>
          </p:cNvSpPr>
          <p:nvPr/>
        </p:nvSpPr>
        <p:spPr>
          <a:xfrm>
            <a:off x="6667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MASALAH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65EFB4E7-0DB7-42FA-85CD-E642F2F5F769}"/>
              </a:ext>
            </a:extLst>
          </p:cNvPr>
          <p:cNvSpPr>
            <a:spLocks noGrp="1"/>
          </p:cNvSpPr>
          <p:nvPr/>
        </p:nvSpPr>
        <p:spPr>
          <a:xfrm>
            <a:off x="6667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2807A0-CC4B-4744-8D5F-C9B7EAFD4AE6}"/>
              </a:ext>
            </a:extLst>
          </p:cNvPr>
          <p:cNvSpPr>
            <a:spLocks noGrp="1"/>
          </p:cNvSpPr>
          <p:nvPr/>
        </p:nvSpPr>
        <p:spPr>
          <a:xfrm>
            <a:off x="18859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1C585544-5B78-4351-89C4-5997992FD748}"/>
              </a:ext>
            </a:extLst>
          </p:cNvPr>
          <p:cNvSpPr>
            <a:spLocks noGrp="1"/>
          </p:cNvSpPr>
          <p:nvPr/>
        </p:nvSpPr>
        <p:spPr>
          <a:xfrm>
            <a:off x="18859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96D266-BD98-4071-8A39-EEA475B46717}"/>
              </a:ext>
            </a:extLst>
          </p:cNvPr>
          <p:cNvSpPr>
            <a:spLocks noGrp="1"/>
          </p:cNvSpPr>
          <p:nvPr/>
        </p:nvSpPr>
        <p:spPr>
          <a:xfrm>
            <a:off x="31051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IMPLEMENTASI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A8A8208B-E24F-4B0C-89B3-68084DDA3693}"/>
              </a:ext>
            </a:extLst>
          </p:cNvPr>
          <p:cNvSpPr>
            <a:spLocks noGrp="1"/>
          </p:cNvSpPr>
          <p:nvPr/>
        </p:nvSpPr>
        <p:spPr>
          <a:xfrm>
            <a:off x="31051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2C3CD5-C34B-47FE-BF89-69FB43662198}"/>
              </a:ext>
            </a:extLst>
          </p:cNvPr>
          <p:cNvSpPr>
            <a:spLocks noGrp="1"/>
          </p:cNvSpPr>
          <p:nvPr/>
        </p:nvSpPr>
        <p:spPr>
          <a:xfrm>
            <a:off x="43243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2A1C48F-AC69-4A9C-9231-C67059F972B1}"/>
              </a:ext>
            </a:extLst>
          </p:cNvPr>
          <p:cNvSpPr>
            <a:spLocks noGrp="1"/>
          </p:cNvSpPr>
          <p:nvPr/>
        </p:nvSpPr>
        <p:spPr>
          <a:xfrm>
            <a:off x="4324350" y="6715125"/>
            <a:ext cx="1104900" cy="0"/>
          </a:xfrm>
          <a:prstGeom prst="line">
            <a:avLst/>
          </a:prstGeom>
          <a:ln w="28575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E9AE58-F64B-41B3-83E1-5B773908524B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8600BD8-90C1-4F62-AAF1-1D3EA80357C8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3238500" cy="200025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40B68A9-4479-4BED-961D-A13E0E800954}"/>
              </a:ext>
            </a:extLst>
          </p:cNvPr>
          <p:cNvSpPr>
            <a:spLocks noGrp="1"/>
          </p:cNvSpPr>
          <p:nvPr/>
        </p:nvSpPr>
        <p:spPr>
          <a:xfrm>
            <a:off x="838200" y="21717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4F3424"/>
          </a:solidFill>
          <a:ln w="9525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E5AD78-3987-47FF-8794-22FE8C2DB22C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20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E81490-3F64-400D-822B-53F44230BA12}"/>
              </a:ext>
            </a:extLst>
          </p:cNvPr>
          <p:cNvSpPr>
            <a:spLocks noGrp="1"/>
          </p:cNvSpPr>
          <p:nvPr/>
        </p:nvSpPr>
        <p:spPr>
          <a:xfrm>
            <a:off x="1295400" y="2162175"/>
            <a:ext cx="24384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Validasi fungsional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4E3015-1B57-424D-9F95-E7E10C7B82E3}"/>
              </a:ext>
            </a:extLst>
          </p:cNvPr>
          <p:cNvSpPr>
            <a:spLocks noGrp="1"/>
          </p:cNvSpPr>
          <p:nvPr/>
        </p:nvSpPr>
        <p:spPr>
          <a:xfrm>
            <a:off x="1295400" y="2466975"/>
            <a:ext cx="24384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0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8A7667"/>
                </a:solidFill>
                <a:latin typeface="Arial"/>
                <a:ea typeface="Arial"/>
                <a:cs typeface="Arial"/>
              </a:rPr>
              <a:t>Mengukur apakah komponen kritis dan percabangannya berjalan melalui test suite, benchmark, dan probe retrieval.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8E438D3-24D2-43CE-B33A-CD6153DFE0A7}"/>
              </a:ext>
            </a:extLst>
          </p:cNvPr>
          <p:cNvSpPr>
            <a:spLocks noGrp="1"/>
          </p:cNvSpPr>
          <p:nvPr/>
        </p:nvSpPr>
        <p:spPr>
          <a:xfrm>
            <a:off x="4476750" y="2000250"/>
            <a:ext cx="3238500" cy="200025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0B0CA1C-1941-440F-90A1-104BCBD695EB}"/>
              </a:ext>
            </a:extLst>
          </p:cNvPr>
          <p:cNvSpPr>
            <a:spLocks noGrp="1"/>
          </p:cNvSpPr>
          <p:nvPr/>
        </p:nvSpPr>
        <p:spPr>
          <a:xfrm>
            <a:off x="4648200" y="21717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8B5438"/>
          </a:solidFill>
          <a:ln w="9525">
            <a:solidFill>
              <a:srgbClr val="8B543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FBFA49-1CB6-4BF1-9F02-C89E2CD7D997}"/>
              </a:ext>
            </a:extLst>
          </p:cNvPr>
          <p:cNvSpPr>
            <a:spLocks noGrp="1"/>
          </p:cNvSpPr>
          <p:nvPr/>
        </p:nvSpPr>
        <p:spPr>
          <a:xfrm>
            <a:off x="4648200" y="222885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20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BB12A0-4769-4F7D-9CD0-C9E50C853293}"/>
              </a:ext>
            </a:extLst>
          </p:cNvPr>
          <p:cNvSpPr>
            <a:spLocks noGrp="1"/>
          </p:cNvSpPr>
          <p:nvPr/>
        </p:nvSpPr>
        <p:spPr>
          <a:xfrm>
            <a:off x="5105400" y="2162175"/>
            <a:ext cx="24384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Kualitas percakapan &amp; memori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5EDE0C-7576-45D2-971D-996C8AFF01D7}"/>
              </a:ext>
            </a:extLst>
          </p:cNvPr>
          <p:cNvSpPr>
            <a:spLocks noGrp="1"/>
          </p:cNvSpPr>
          <p:nvPr/>
        </p:nvSpPr>
        <p:spPr>
          <a:xfrm>
            <a:off x="5105400" y="2466975"/>
            <a:ext cx="24384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0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8A7667"/>
                </a:solidFill>
                <a:latin typeface="Arial"/>
                <a:ea typeface="Arial"/>
                <a:cs typeface="Arial"/>
              </a:rPr>
              <a:t>Membaca perilaku AXIS dan baseline melalui studi kasus, EPITOME, scripted persona, serta ablasi graf.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090C3A6-DCC2-4534-BDA2-C087CCA24498}"/>
              </a:ext>
            </a:extLst>
          </p:cNvPr>
          <p:cNvSpPr>
            <a:spLocks noGrp="1"/>
          </p:cNvSpPr>
          <p:nvPr/>
        </p:nvSpPr>
        <p:spPr>
          <a:xfrm>
            <a:off x="8286750" y="2000250"/>
            <a:ext cx="3238500" cy="200025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96D9303-A304-476D-9523-10AD1F1E82FC}"/>
              </a:ext>
            </a:extLst>
          </p:cNvPr>
          <p:cNvSpPr>
            <a:spLocks noGrp="1"/>
          </p:cNvSpPr>
          <p:nvPr/>
        </p:nvSpPr>
        <p:spPr>
          <a:xfrm>
            <a:off x="8458200" y="21717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C8924F"/>
          </a:solidFill>
          <a:ln w="9525">
            <a:solidFill>
              <a:srgbClr val="C8924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D440DF-E658-495F-B26C-7A6590664F1B}"/>
              </a:ext>
            </a:extLst>
          </p:cNvPr>
          <p:cNvSpPr>
            <a:spLocks noGrp="1"/>
          </p:cNvSpPr>
          <p:nvPr/>
        </p:nvSpPr>
        <p:spPr>
          <a:xfrm>
            <a:off x="8458200" y="222885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20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C83D2A-7646-4B7A-84AF-7ECB5A5FB958}"/>
              </a:ext>
            </a:extLst>
          </p:cNvPr>
          <p:cNvSpPr>
            <a:spLocks noGrp="1"/>
          </p:cNvSpPr>
          <p:nvPr/>
        </p:nvSpPr>
        <p:spPr>
          <a:xfrm>
            <a:off x="8915400" y="2162175"/>
            <a:ext cx="24384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Pengalaman pengguna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D18A42-FFA0-4F60-8E9F-797BE5F94573}"/>
              </a:ext>
            </a:extLst>
          </p:cNvPr>
          <p:cNvSpPr>
            <a:spLocks noGrp="1"/>
          </p:cNvSpPr>
          <p:nvPr/>
        </p:nvSpPr>
        <p:spPr>
          <a:xfrm>
            <a:off x="8915400" y="2466975"/>
            <a:ext cx="24384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0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8A7667"/>
                </a:solidFill>
                <a:latin typeface="Arial"/>
                <a:ea typeface="Arial"/>
                <a:cs typeface="Arial"/>
              </a:rPr>
              <a:t>Pengujian mahasiswa dan pengukuran latensi suara telah dirancang, tetapi belum menjadi bukti seminar hasil.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4502308-B784-4286-8ABE-5DEA6E0C8114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10858500" cy="828675"/>
          </a:xfrm>
          <a:prstGeom prst="roundRect">
            <a:avLst>
              <a:gd name="adj" fmla="val 9195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857941-EFC3-426E-8A1C-3103ECA8082F}"/>
              </a:ext>
            </a:extLst>
          </p:cNvPr>
          <p:cNvSpPr>
            <a:spLocks noGrp="1"/>
          </p:cNvSpPr>
          <p:nvPr/>
        </p:nvSpPr>
        <p:spPr>
          <a:xfrm>
            <a:off x="914400" y="4981575"/>
            <a:ext cx="176212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125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Cara membaca hasil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4BF7EA-9662-40ED-B658-EA993FB9E9C1}"/>
              </a:ext>
            </a:extLst>
          </p:cNvPr>
          <p:cNvSpPr>
            <a:spLocks noGrp="1"/>
          </p:cNvSpPr>
          <p:nvPr/>
        </p:nvSpPr>
        <p:spPr>
          <a:xfrm>
            <a:off x="2800350" y="4943475"/>
            <a:ext cx="8191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Jalur 1 menghasilkan status lulus/gagal. Jalur 2 memberi indikasi yang harus dibaca bersama keterbatasannya. Jalur 3 adalah rencana evaluasi akhir.</a:t>
            </a:r>
          </a:p>
        </p:txBody>
      </p:sp>
    </p:spTree>
    <p:extLst>
      <p:ext uri="{BB962C8B-B14F-4D97-AF65-F5344CB8AC3E}">
        <p14:creationId xmlns:p14="http://schemas.microsoft.com/office/powerpoint/2010/main" val="532892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79E1332-C534-4A6C-A866-B96D495DD1DA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90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FCEEC5-37E1-49E1-8EEF-3B8B9CF08DFE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24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Validasi fungsional: komponen kritis dan jejak keputusan bekerja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6BE9969-386D-4406-8CD5-0E68660CA873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8585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2C51FE-0A05-4B46-9187-3A9457ED340B}"/>
              </a:ext>
            </a:extLst>
          </p:cNvPr>
          <p:cNvSpPr>
            <a:spLocks noGrp="1"/>
          </p:cNvSpPr>
          <p:nvPr/>
        </p:nvSpPr>
        <p:spPr>
          <a:xfrm>
            <a:off x="6667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MASALAH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F3AF4AD-D752-4C80-8828-234C97C2A6BF}"/>
              </a:ext>
            </a:extLst>
          </p:cNvPr>
          <p:cNvSpPr>
            <a:spLocks noGrp="1"/>
          </p:cNvSpPr>
          <p:nvPr/>
        </p:nvSpPr>
        <p:spPr>
          <a:xfrm>
            <a:off x="6667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D7B108-3830-4FB9-9F3C-C3073AAB8DA6}"/>
              </a:ext>
            </a:extLst>
          </p:cNvPr>
          <p:cNvSpPr>
            <a:spLocks noGrp="1"/>
          </p:cNvSpPr>
          <p:nvPr/>
        </p:nvSpPr>
        <p:spPr>
          <a:xfrm>
            <a:off x="18859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32FDAAC-2E6A-4AD1-A542-9B2C279E6DEF}"/>
              </a:ext>
            </a:extLst>
          </p:cNvPr>
          <p:cNvSpPr>
            <a:spLocks noGrp="1"/>
          </p:cNvSpPr>
          <p:nvPr/>
        </p:nvSpPr>
        <p:spPr>
          <a:xfrm>
            <a:off x="18859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ECD5F6-BA8C-46F2-A0B7-BC6DC844A4F9}"/>
              </a:ext>
            </a:extLst>
          </p:cNvPr>
          <p:cNvSpPr>
            <a:spLocks noGrp="1"/>
          </p:cNvSpPr>
          <p:nvPr/>
        </p:nvSpPr>
        <p:spPr>
          <a:xfrm>
            <a:off x="31051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IMPLEMENTASI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187FE42-D986-4534-910F-D957B9E72453}"/>
              </a:ext>
            </a:extLst>
          </p:cNvPr>
          <p:cNvSpPr>
            <a:spLocks noGrp="1"/>
          </p:cNvSpPr>
          <p:nvPr/>
        </p:nvSpPr>
        <p:spPr>
          <a:xfrm>
            <a:off x="31051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C465E9-9C56-4604-BA17-C830616D0004}"/>
              </a:ext>
            </a:extLst>
          </p:cNvPr>
          <p:cNvSpPr>
            <a:spLocks noGrp="1"/>
          </p:cNvSpPr>
          <p:nvPr/>
        </p:nvSpPr>
        <p:spPr>
          <a:xfrm>
            <a:off x="43243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B4D523AF-BC2D-4C71-BB9B-F7CF5AF44FCB}"/>
              </a:ext>
            </a:extLst>
          </p:cNvPr>
          <p:cNvSpPr>
            <a:spLocks noGrp="1"/>
          </p:cNvSpPr>
          <p:nvPr/>
        </p:nvSpPr>
        <p:spPr>
          <a:xfrm>
            <a:off x="4324350" y="6715125"/>
            <a:ext cx="1104900" cy="0"/>
          </a:xfrm>
          <a:prstGeom prst="line">
            <a:avLst/>
          </a:prstGeom>
          <a:ln w="28575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80AF7-CDFA-498B-AB06-7ADEA392FC8A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22C25A3-97EB-4804-AFEB-C8B885678434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2190750" cy="990600"/>
          </a:xfrm>
          <a:prstGeom prst="roundRect">
            <a:avLst>
              <a:gd name="adj" fmla="val 7692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FF41A9-1CC5-4A1A-946E-DF3AEA6CFD41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21907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210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59 / 59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26C969-C0BA-455F-9349-D9CC1036CD3A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1962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0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8A7667"/>
                </a:solidFill>
                <a:latin typeface="Arial"/>
                <a:ea typeface="Arial"/>
                <a:cs typeface="Arial"/>
              </a:rPr>
              <a:t>pengujian guardrail lulus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C6A1682-9A25-459D-9012-B2511C14B4EC}"/>
              </a:ext>
            </a:extLst>
          </p:cNvPr>
          <p:cNvSpPr>
            <a:spLocks noGrp="1"/>
          </p:cNvSpPr>
          <p:nvPr/>
        </p:nvSpPr>
        <p:spPr>
          <a:xfrm>
            <a:off x="3048000" y="1809750"/>
            <a:ext cx="2190750" cy="990600"/>
          </a:xfrm>
          <a:prstGeom prst="roundRect">
            <a:avLst>
              <a:gd name="adj" fmla="val 7692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F50CF6-1076-4A09-9EF6-16ABB39556EB}"/>
              </a:ext>
            </a:extLst>
          </p:cNvPr>
          <p:cNvSpPr>
            <a:spLocks noGrp="1"/>
          </p:cNvSpPr>
          <p:nvPr/>
        </p:nvSpPr>
        <p:spPr>
          <a:xfrm>
            <a:off x="3048000" y="1981200"/>
            <a:ext cx="21907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210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48 / 48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9B43E7-BCA4-4E9E-9673-46F4EB3E66BA}"/>
              </a:ext>
            </a:extLst>
          </p:cNvPr>
          <p:cNvSpPr>
            <a:spLocks noGrp="1"/>
          </p:cNvSpPr>
          <p:nvPr/>
        </p:nvSpPr>
        <p:spPr>
          <a:xfrm>
            <a:off x="3162300" y="2409825"/>
            <a:ext cx="1962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0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8A7667"/>
                </a:solidFill>
                <a:latin typeface="Arial"/>
                <a:ea typeface="Arial"/>
                <a:cs typeface="Arial"/>
              </a:rPr>
              <a:t>pengujian kebijakan CBT lulus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6753A05-3CDE-496F-81DF-4B6ED1880845}"/>
              </a:ext>
            </a:extLst>
          </p:cNvPr>
          <p:cNvSpPr>
            <a:spLocks noGrp="1"/>
          </p:cNvSpPr>
          <p:nvPr/>
        </p:nvSpPr>
        <p:spPr>
          <a:xfrm>
            <a:off x="5429250" y="1809750"/>
            <a:ext cx="2190750" cy="990600"/>
          </a:xfrm>
          <a:prstGeom prst="roundRect">
            <a:avLst>
              <a:gd name="adj" fmla="val 7692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0E5B53-E725-4716-8CB2-FD34FCA83341}"/>
              </a:ext>
            </a:extLst>
          </p:cNvPr>
          <p:cNvSpPr>
            <a:spLocks noGrp="1"/>
          </p:cNvSpPr>
          <p:nvPr/>
        </p:nvSpPr>
        <p:spPr>
          <a:xfrm>
            <a:off x="5429250" y="1981200"/>
            <a:ext cx="21907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2100">
                <a:solidFill>
                  <a:srgbClr val="7A60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A6049"/>
                </a:solidFill>
                <a:latin typeface="Arial"/>
                <a:ea typeface="Arial"/>
                <a:cs typeface="Arial"/>
              </a:rPr>
              <a:t>24 / 24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AC80BB-B724-4692-AAD2-7AB566DD7C9C}"/>
              </a:ext>
            </a:extLst>
          </p:cNvPr>
          <p:cNvSpPr>
            <a:spLocks noGrp="1"/>
          </p:cNvSpPr>
          <p:nvPr/>
        </p:nvSpPr>
        <p:spPr>
          <a:xfrm>
            <a:off x="5543550" y="2409825"/>
            <a:ext cx="1962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0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8A7667"/>
                </a:solidFill>
                <a:latin typeface="Arial"/>
                <a:ea typeface="Arial"/>
                <a:cs typeface="Arial"/>
              </a:rPr>
              <a:t>pengujian PHQ-9 lulus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4DB6EAE-18A3-40BD-B6DE-1C838D46EF5B}"/>
              </a:ext>
            </a:extLst>
          </p:cNvPr>
          <p:cNvSpPr>
            <a:spLocks noGrp="1"/>
          </p:cNvSpPr>
          <p:nvPr/>
        </p:nvSpPr>
        <p:spPr>
          <a:xfrm>
            <a:off x="7810500" y="1809750"/>
            <a:ext cx="2190750" cy="990600"/>
          </a:xfrm>
          <a:prstGeom prst="roundRect">
            <a:avLst>
              <a:gd name="adj" fmla="val 7692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D9D6C9-C026-4FE6-9026-054047895007}"/>
              </a:ext>
            </a:extLst>
          </p:cNvPr>
          <p:cNvSpPr>
            <a:spLocks noGrp="1"/>
          </p:cNvSpPr>
          <p:nvPr/>
        </p:nvSpPr>
        <p:spPr>
          <a:xfrm>
            <a:off x="7810500" y="1981200"/>
            <a:ext cx="21907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2100">
                <a:solidFill>
                  <a:srgbClr val="C892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8924F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FB544B-63E6-4327-B540-0EF749D2A582}"/>
              </a:ext>
            </a:extLst>
          </p:cNvPr>
          <p:cNvSpPr>
            <a:spLocks noGrp="1"/>
          </p:cNvSpPr>
          <p:nvPr/>
        </p:nvSpPr>
        <p:spPr>
          <a:xfrm>
            <a:off x="7924800" y="2409825"/>
            <a:ext cx="1962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0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8A7667"/>
                </a:solidFill>
                <a:latin typeface="Arial"/>
                <a:ea typeface="Arial"/>
                <a:cs typeface="Arial"/>
              </a:rPr>
              <a:t>node graf keputusan tercakup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A99F2B3-03FB-4E4C-8A98-A35B95262517}"/>
              </a:ext>
            </a:extLst>
          </p:cNvPr>
          <p:cNvSpPr>
            <a:spLocks noGrp="1"/>
          </p:cNvSpPr>
          <p:nvPr/>
        </p:nvSpPr>
        <p:spPr>
          <a:xfrm>
            <a:off x="2000250" y="3276600"/>
            <a:ext cx="2571750" cy="990600"/>
          </a:xfrm>
          <a:prstGeom prst="roundRect">
            <a:avLst>
              <a:gd name="adj" fmla="val 7692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50CFD4-64AA-4830-B8FB-8418D2B5C1CF}"/>
              </a:ext>
            </a:extLst>
          </p:cNvPr>
          <p:cNvSpPr>
            <a:spLocks noGrp="1"/>
          </p:cNvSpPr>
          <p:nvPr/>
        </p:nvSpPr>
        <p:spPr>
          <a:xfrm>
            <a:off x="2000250" y="3448050"/>
            <a:ext cx="25717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210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F6EBA1-4925-4CA5-8F93-CB5E08BD82DB}"/>
              </a:ext>
            </a:extLst>
          </p:cNvPr>
          <p:cNvSpPr>
            <a:spLocks noGrp="1"/>
          </p:cNvSpPr>
          <p:nvPr/>
        </p:nvSpPr>
        <p:spPr>
          <a:xfrm>
            <a:off x="2114550" y="3876675"/>
            <a:ext cx="2343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0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8A7667"/>
                </a:solidFill>
                <a:latin typeface="Arial"/>
                <a:ea typeface="Arial"/>
                <a:cs typeface="Arial"/>
              </a:rPr>
              <a:t>kueri Recall@5 menemukan fakta target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1DB2E76-F81A-4BE8-81ED-F2CC3AF086FF}"/>
              </a:ext>
            </a:extLst>
          </p:cNvPr>
          <p:cNvSpPr>
            <a:spLocks noGrp="1"/>
          </p:cNvSpPr>
          <p:nvPr/>
        </p:nvSpPr>
        <p:spPr>
          <a:xfrm>
            <a:off x="4857750" y="3276600"/>
            <a:ext cx="2571750" cy="990600"/>
          </a:xfrm>
          <a:prstGeom prst="roundRect">
            <a:avLst>
              <a:gd name="adj" fmla="val 7692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CE6FA2-2BF9-4274-ABDA-AC579E18D99C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5717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2100">
                <a:solidFill>
                  <a:srgbClr val="A85F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5F5D"/>
                </a:solidFill>
                <a:latin typeface="Arial"/>
                <a:ea typeface="Arial"/>
                <a:cs typeface="Arial"/>
              </a:rPr>
              <a:t>14 / 19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95B578-37ED-474C-B3BD-35E95E744B9A}"/>
              </a:ext>
            </a:extLst>
          </p:cNvPr>
          <p:cNvSpPr>
            <a:spLocks noGrp="1"/>
          </p:cNvSpPr>
          <p:nvPr/>
        </p:nvSpPr>
        <p:spPr>
          <a:xfrm>
            <a:off x="4972050" y="3876675"/>
            <a:ext cx="2343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0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8A7667"/>
                </a:solidFill>
                <a:latin typeface="Arial"/>
                <a:ea typeface="Arial"/>
                <a:cs typeface="Arial"/>
              </a:rPr>
              <a:t>eufemisme krisis tertangkap pada benchmark internal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0D43437-53CF-428D-8370-3DE6E88099A9}"/>
              </a:ext>
            </a:extLst>
          </p:cNvPr>
          <p:cNvSpPr>
            <a:spLocks noGrp="1"/>
          </p:cNvSpPr>
          <p:nvPr/>
        </p:nvSpPr>
        <p:spPr>
          <a:xfrm>
            <a:off x="7715250" y="3276600"/>
            <a:ext cx="2571750" cy="990600"/>
          </a:xfrm>
          <a:prstGeom prst="roundRect">
            <a:avLst>
              <a:gd name="adj" fmla="val 7692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85B3BF-61C7-41CE-B9ED-32E9E1E554CA}"/>
              </a:ext>
            </a:extLst>
          </p:cNvPr>
          <p:cNvSpPr>
            <a:spLocks noGrp="1"/>
          </p:cNvSpPr>
          <p:nvPr/>
        </p:nvSpPr>
        <p:spPr>
          <a:xfrm>
            <a:off x="7715250" y="3448050"/>
            <a:ext cx="25717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210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18 / 19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15262A-21AF-4022-9FBC-06544F314888}"/>
              </a:ext>
            </a:extLst>
          </p:cNvPr>
          <p:cNvSpPr>
            <a:spLocks noGrp="1"/>
          </p:cNvSpPr>
          <p:nvPr/>
        </p:nvSpPr>
        <p:spPr>
          <a:xfrm>
            <a:off x="7829550" y="3876675"/>
            <a:ext cx="2343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90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8A7667"/>
                </a:solidFill>
                <a:latin typeface="Arial"/>
                <a:ea typeface="Arial"/>
                <a:cs typeface="Arial"/>
              </a:rPr>
              <a:t>cabang tercakup; satu cabang tidak terjangkau oleh desain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A7A497-0C9C-42F1-A595-4A2712EEDDD9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1476375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125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Interpretasi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D7B42D-6B03-4C4A-BEBB-DFBC66491E75}"/>
              </a:ext>
            </a:extLst>
          </p:cNvPr>
          <p:cNvSpPr>
            <a:spLocks noGrp="1"/>
          </p:cNvSpPr>
          <p:nvPr/>
        </p:nvSpPr>
        <p:spPr>
          <a:xfrm>
            <a:off x="666750" y="53340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Orkestrasi komponen kritis dapat dijalankan pada skenario yang diuji. Benchmark eufemisme tetap menunjukkan lima kasus yang belum tertangkap, sehingga belum cukup untuk menyatakan perlindungan krisis telah sempurna.</a:t>
            </a:r>
          </a:p>
        </p:txBody>
      </p:sp>
    </p:spTree>
    <p:extLst>
      <p:ext uri="{BB962C8B-B14F-4D97-AF65-F5344CB8AC3E}">
        <p14:creationId xmlns:p14="http://schemas.microsoft.com/office/powerpoint/2010/main" val="786215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77463D0-FCFA-426E-BE17-105B593F380B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90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B10B4F-0F24-4435-A11A-655410A3916C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24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Bukti komparatif: hasilnya campuran dan tidak disederhanakan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E8F413A-AE0C-401D-8DB7-BB399617B0A9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8585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2C7C66-96B9-40A8-B66C-ADDCC14A1E87}"/>
              </a:ext>
            </a:extLst>
          </p:cNvPr>
          <p:cNvSpPr>
            <a:spLocks noGrp="1"/>
          </p:cNvSpPr>
          <p:nvPr/>
        </p:nvSpPr>
        <p:spPr>
          <a:xfrm>
            <a:off x="6667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MASALAH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65AC20A2-D847-47C1-98FF-9F4DF11AEE72}"/>
              </a:ext>
            </a:extLst>
          </p:cNvPr>
          <p:cNvSpPr>
            <a:spLocks noGrp="1"/>
          </p:cNvSpPr>
          <p:nvPr/>
        </p:nvSpPr>
        <p:spPr>
          <a:xfrm>
            <a:off x="6667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3958AB-0487-4DCA-A939-58AA42FF50EE}"/>
              </a:ext>
            </a:extLst>
          </p:cNvPr>
          <p:cNvSpPr>
            <a:spLocks noGrp="1"/>
          </p:cNvSpPr>
          <p:nvPr/>
        </p:nvSpPr>
        <p:spPr>
          <a:xfrm>
            <a:off x="18859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5EC4FA2F-BA84-4420-A82A-34C58B837156}"/>
              </a:ext>
            </a:extLst>
          </p:cNvPr>
          <p:cNvSpPr>
            <a:spLocks noGrp="1"/>
          </p:cNvSpPr>
          <p:nvPr/>
        </p:nvSpPr>
        <p:spPr>
          <a:xfrm>
            <a:off x="18859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1F039E-3721-484B-BE0A-6454CAFBB621}"/>
              </a:ext>
            </a:extLst>
          </p:cNvPr>
          <p:cNvSpPr>
            <a:spLocks noGrp="1"/>
          </p:cNvSpPr>
          <p:nvPr/>
        </p:nvSpPr>
        <p:spPr>
          <a:xfrm>
            <a:off x="31051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IMPLEMENTASI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B80CFB1-E631-4600-8ADA-1DEE89E7A943}"/>
              </a:ext>
            </a:extLst>
          </p:cNvPr>
          <p:cNvSpPr>
            <a:spLocks noGrp="1"/>
          </p:cNvSpPr>
          <p:nvPr/>
        </p:nvSpPr>
        <p:spPr>
          <a:xfrm>
            <a:off x="31051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82AAAE-CACC-47ED-B13B-499656C8A683}"/>
              </a:ext>
            </a:extLst>
          </p:cNvPr>
          <p:cNvSpPr>
            <a:spLocks noGrp="1"/>
          </p:cNvSpPr>
          <p:nvPr/>
        </p:nvSpPr>
        <p:spPr>
          <a:xfrm>
            <a:off x="43243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B8181B12-9F54-4A2C-A01D-F525AF0CE7EF}"/>
              </a:ext>
            </a:extLst>
          </p:cNvPr>
          <p:cNvSpPr>
            <a:spLocks noGrp="1"/>
          </p:cNvSpPr>
          <p:nvPr/>
        </p:nvSpPr>
        <p:spPr>
          <a:xfrm>
            <a:off x="4324350" y="6715125"/>
            <a:ext cx="1104900" cy="0"/>
          </a:xfrm>
          <a:prstGeom prst="line">
            <a:avLst/>
          </a:prstGeom>
          <a:ln w="28575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D54018-02DF-4F3A-9950-B29E6BCA01CC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66D6363-A342-4D02-AC57-85C60679BF32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5572125" cy="3448050"/>
          </a:xfrm>
          <a:prstGeom prst="roundRect">
            <a:avLst>
              <a:gd name="adj" fmla="val 2210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6896" y="1857375"/>
            <a:ext cx="4982308" cy="304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63E4841-F8C9-4D7D-AEC9-21440863727B}"/>
              </a:ext>
            </a:extLst>
          </p:cNvPr>
          <p:cNvSpPr>
            <a:spLocks noGrp="1"/>
          </p:cNvSpPr>
          <p:nvPr/>
        </p:nvSpPr>
        <p:spPr>
          <a:xfrm>
            <a:off x="857250" y="4924425"/>
            <a:ext cx="51911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Gambar IV.14 — hasil EPITOME dari laporan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BD0BAC-25C8-48C7-8BBC-7533DD9BA5A4}"/>
              </a:ext>
            </a:extLst>
          </p:cNvPr>
          <p:cNvSpPr>
            <a:spLocks noGrp="1"/>
          </p:cNvSpPr>
          <p:nvPr/>
        </p:nvSpPr>
        <p:spPr>
          <a:xfrm>
            <a:off x="6762750" y="1676400"/>
            <a:ext cx="4762500" cy="3448050"/>
          </a:xfrm>
          <a:prstGeom prst="roundRect">
            <a:avLst>
              <a:gd name="adj" fmla="val 2210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FC5213-60A4-45FB-BD5F-A49799517E54}"/>
              </a:ext>
            </a:extLst>
          </p:cNvPr>
          <p:cNvSpPr>
            <a:spLocks noGrp="1"/>
          </p:cNvSpPr>
          <p:nvPr/>
        </p:nvSpPr>
        <p:spPr>
          <a:xfrm>
            <a:off x="7010400" y="1962150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57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Pembacaan hasil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86A01D-E812-493E-9033-2E5E5F591B39}"/>
              </a:ext>
            </a:extLst>
          </p:cNvPr>
          <p:cNvSpPr>
            <a:spLocks noGrp="1"/>
          </p:cNvSpPr>
          <p:nvPr/>
        </p:nvSpPr>
        <p:spPr>
          <a:xfrm>
            <a:off x="7010400" y="2457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0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A7667"/>
                </a:solidFill>
                <a:latin typeface="Arial"/>
                <a:ea typeface="Arial"/>
                <a:cs typeface="Arial"/>
              </a:rPr>
              <a:t>Arya / cold-start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A43CA3-6457-4979-95B0-9EC2224B3505}"/>
              </a:ext>
            </a:extLst>
          </p:cNvPr>
          <p:cNvSpPr>
            <a:spLocks noGrp="1"/>
          </p:cNvSpPr>
          <p:nvPr/>
        </p:nvSpPr>
        <p:spPr>
          <a:xfrm>
            <a:off x="7010400" y="2762250"/>
            <a:ext cx="4095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Baseline lebih tinggi pada ER, IP, dan EX.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D31E57-2234-4CA6-B14E-FBB218E1D3F8}"/>
              </a:ext>
            </a:extLst>
          </p:cNvPr>
          <p:cNvSpPr>
            <a:spLocks noGrp="1"/>
          </p:cNvSpPr>
          <p:nvPr/>
        </p:nvSpPr>
        <p:spPr>
          <a:xfrm>
            <a:off x="7010400" y="33337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0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A7667"/>
                </a:solidFill>
                <a:latin typeface="Arial"/>
                <a:ea typeface="Arial"/>
                <a:cs typeface="Arial"/>
              </a:rPr>
              <a:t>Budi / memori kaya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C215CC-14BB-4987-BFE7-377B3030D2F6}"/>
              </a:ext>
            </a:extLst>
          </p:cNvPr>
          <p:cNvSpPr>
            <a:spLocks noGrp="1"/>
          </p:cNvSpPr>
          <p:nvPr/>
        </p:nvSpPr>
        <p:spPr>
          <a:xfrm>
            <a:off x="7010400" y="363855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AXIS sedikit lebih tinggi pada ER, setara pada IP, dan masih lebih rendah pada EX.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1ECFF8-20A6-419E-86DB-2D0BB8B3C933}"/>
              </a:ext>
            </a:extLst>
          </p:cNvPr>
          <p:cNvSpPr>
            <a:spLocks noGrp="1"/>
          </p:cNvSpPr>
          <p:nvPr/>
        </p:nvSpPr>
        <p:spPr>
          <a:xfrm>
            <a:off x="7010400" y="4286250"/>
            <a:ext cx="4095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125">
                <a:solidFill>
                  <a:srgbClr val="7A60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A6049"/>
                </a:solidFill>
                <a:latin typeface="Arial"/>
                <a:ea typeface="Arial"/>
                <a:cs typeface="Arial"/>
              </a:rPr>
              <a:t>Ablasi: graf belum terbukti menaikkan skor empati EPITOME. Kontribusi yang lebih teramati adalah kesinambungan konteks dan lifecycle.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9FF4AF-FDBB-424B-BFD0-60CB5ADD1DF6}"/>
              </a:ext>
            </a:extLst>
          </p:cNvPr>
          <p:cNvSpPr>
            <a:spLocks noGrp="1"/>
          </p:cNvSpPr>
          <p:nvPr/>
        </p:nvSpPr>
        <p:spPr>
          <a:xfrm>
            <a:off x="666750" y="5476875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50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Kesimpulan komparatif dibaca sebagai bukti awal pengembangan, bukan klaim superioritas umum.</a:t>
            </a:r>
          </a:p>
        </p:txBody>
      </p:sp>
    </p:spTree>
    <p:extLst>
      <p:ext uri="{BB962C8B-B14F-4D97-AF65-F5344CB8AC3E}">
        <p14:creationId xmlns:p14="http://schemas.microsoft.com/office/powerpoint/2010/main" val="411008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47C2A88-9292-4AC5-A527-35B1D2F3D5EF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900">
                <a:solidFill>
                  <a:srgbClr val="8B54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5438"/>
                </a:solidFill>
                <a:latin typeface="Arial"/>
                <a:ea typeface="Arial"/>
                <a:cs typeface="Arial"/>
              </a:rPr>
              <a:t>PENUTUP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0BC20D-4576-4B64-B44C-C37C79E0B844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24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Apa yang telah dijawab, dan apa yang masih harus dibuktikan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3C70789-E85E-4121-A1DE-17E3710958B9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108585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DA0B-51BB-4667-900A-0D4D95B46453}"/>
              </a:ext>
            </a:extLst>
          </p:cNvPr>
          <p:cNvSpPr>
            <a:spLocks noGrp="1"/>
          </p:cNvSpPr>
          <p:nvPr/>
        </p:nvSpPr>
        <p:spPr>
          <a:xfrm>
            <a:off x="6667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MASALAH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7996AA22-79B6-417A-98B7-4C418DE82FDF}"/>
              </a:ext>
            </a:extLst>
          </p:cNvPr>
          <p:cNvSpPr>
            <a:spLocks noGrp="1"/>
          </p:cNvSpPr>
          <p:nvPr/>
        </p:nvSpPr>
        <p:spPr>
          <a:xfrm>
            <a:off x="6667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EC8C99-2ABF-4272-BC3C-2AEBF2B8C059}"/>
              </a:ext>
            </a:extLst>
          </p:cNvPr>
          <p:cNvSpPr>
            <a:spLocks noGrp="1"/>
          </p:cNvSpPr>
          <p:nvPr/>
        </p:nvSpPr>
        <p:spPr>
          <a:xfrm>
            <a:off x="18859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SOLUSI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42B3702-639B-4616-8B34-09715BF848A4}"/>
              </a:ext>
            </a:extLst>
          </p:cNvPr>
          <p:cNvSpPr>
            <a:spLocks noGrp="1"/>
          </p:cNvSpPr>
          <p:nvPr/>
        </p:nvSpPr>
        <p:spPr>
          <a:xfrm>
            <a:off x="18859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9A7D2F-3E36-48B7-85B0-1B0AE75B94CC}"/>
              </a:ext>
            </a:extLst>
          </p:cNvPr>
          <p:cNvSpPr>
            <a:spLocks noGrp="1"/>
          </p:cNvSpPr>
          <p:nvPr/>
        </p:nvSpPr>
        <p:spPr>
          <a:xfrm>
            <a:off x="31051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8A7667"/>
                </a:solidFill>
                <a:latin typeface="Arial"/>
                <a:ea typeface="Arial"/>
                <a:cs typeface="Arial"/>
              </a:rPr>
              <a:t>IMPLEMENTASI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E526CA61-8A8B-4F98-9131-F84900C39C69}"/>
              </a:ext>
            </a:extLst>
          </p:cNvPr>
          <p:cNvSpPr>
            <a:spLocks noGrp="1"/>
          </p:cNvSpPr>
          <p:nvPr/>
        </p:nvSpPr>
        <p:spPr>
          <a:xfrm>
            <a:off x="3105150" y="6715125"/>
            <a:ext cx="1104900" cy="0"/>
          </a:xfrm>
          <a:prstGeom prst="line">
            <a:avLst/>
          </a:prstGeom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6934C6-2F02-42A9-9829-547FC097BE1C}"/>
              </a:ext>
            </a:extLst>
          </p:cNvPr>
          <p:cNvSpPr>
            <a:spLocks noGrp="1"/>
          </p:cNvSpPr>
          <p:nvPr/>
        </p:nvSpPr>
        <p:spPr>
          <a:xfrm>
            <a:off x="4324350" y="6524625"/>
            <a:ext cx="1104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75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EVALUASI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1470065-13B2-4FF8-8B5C-A582D47D4D8B}"/>
              </a:ext>
            </a:extLst>
          </p:cNvPr>
          <p:cNvSpPr>
            <a:spLocks noGrp="1"/>
          </p:cNvSpPr>
          <p:nvPr/>
        </p:nvSpPr>
        <p:spPr>
          <a:xfrm>
            <a:off x="4324350" y="6715125"/>
            <a:ext cx="1104900" cy="0"/>
          </a:xfrm>
          <a:prstGeom prst="line">
            <a:avLst/>
          </a:prstGeom>
          <a:ln w="28575">
            <a:solidFill>
              <a:srgbClr val="4F3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B6D278-56B9-4DFB-BC21-3EBFED54A180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r">
              <a:defRPr sz="825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766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4766698-1DF3-4F08-A494-B3EE1FC4824B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0858500" cy="876300"/>
          </a:xfrm>
          <a:prstGeom prst="roundRect">
            <a:avLst>
              <a:gd name="adj" fmla="val 8696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F797E8-D186-4B04-AAFD-EA8231E4D61F}"/>
              </a:ext>
            </a:extLst>
          </p:cNvPr>
          <p:cNvSpPr>
            <a:spLocks noGrp="1"/>
          </p:cNvSpPr>
          <p:nvPr/>
        </p:nvSpPr>
        <p:spPr>
          <a:xfrm>
            <a:off x="914400" y="193357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50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RM1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D72E63-60DE-4DE7-AC05-12A361243F97}"/>
              </a:ext>
            </a:extLst>
          </p:cNvPr>
          <p:cNvSpPr>
            <a:spLocks noGrp="1"/>
          </p:cNvSpPr>
          <p:nvPr/>
        </p:nvSpPr>
        <p:spPr>
          <a:xfrm>
            <a:off x="1828800" y="1838325"/>
            <a:ext cx="2571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Percakapan pendamping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7804EB-2842-4E6B-9FF8-A0A92F086CA4}"/>
              </a:ext>
            </a:extLst>
          </p:cNvPr>
          <p:cNvSpPr>
            <a:spLocks noGrp="1"/>
          </p:cNvSpPr>
          <p:nvPr/>
        </p:nvSpPr>
        <p:spPr>
          <a:xfrm>
            <a:off x="4495800" y="1838325"/>
            <a:ext cx="65246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0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8A7667"/>
                </a:solidFill>
                <a:latin typeface="Arial"/>
                <a:ea typeface="Arial"/>
                <a:cs typeface="Arial"/>
              </a:rPr>
              <a:t>Parsial: teknik, batas keselamatan, dan alur bahasa terimplementasi; kualitas empati belum unggul konsisten.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13E2015-0A29-4850-9F65-A2C0C1D41D64}"/>
              </a:ext>
            </a:extLst>
          </p:cNvPr>
          <p:cNvSpPr>
            <a:spLocks noGrp="1"/>
          </p:cNvSpPr>
          <p:nvPr/>
        </p:nvSpPr>
        <p:spPr>
          <a:xfrm>
            <a:off x="666750" y="2790825"/>
            <a:ext cx="10858500" cy="876300"/>
          </a:xfrm>
          <a:prstGeom prst="roundRect">
            <a:avLst>
              <a:gd name="adj" fmla="val 8696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E8131F-555A-4A9F-8D32-92448B6BFA80}"/>
              </a:ext>
            </a:extLst>
          </p:cNvPr>
          <p:cNvSpPr>
            <a:spLocks noGrp="1"/>
          </p:cNvSpPr>
          <p:nvPr/>
        </p:nvSpPr>
        <p:spPr>
          <a:xfrm>
            <a:off x="914400" y="30575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50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RM2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410D4B-17BB-4657-BE07-D237DE39ED88}"/>
              </a:ext>
            </a:extLst>
          </p:cNvPr>
          <p:cNvSpPr>
            <a:spLocks noGrp="1"/>
          </p:cNvSpPr>
          <p:nvPr/>
        </p:nvSpPr>
        <p:spPr>
          <a:xfrm>
            <a:off x="1828800" y="2962275"/>
            <a:ext cx="2571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Mood dan PHQ-9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C75F44-BFA9-4C9D-BFC1-9CCFB14F06FA}"/>
              </a:ext>
            </a:extLst>
          </p:cNvPr>
          <p:cNvSpPr>
            <a:spLocks noGrp="1"/>
          </p:cNvSpPr>
          <p:nvPr/>
        </p:nvSpPr>
        <p:spPr>
          <a:xfrm>
            <a:off x="4495800" y="2962275"/>
            <a:ext cx="65246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0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8A7667"/>
                </a:solidFill>
                <a:latin typeface="Arial"/>
                <a:ea typeface="Arial"/>
                <a:cs typeface="Arial"/>
              </a:rPr>
              <a:t>Fungsional: orkestrasi, pengisian, keselamatan, dan penyimpanan asesmen telah lolos pengujian komponen.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F36C788-B4D1-4238-B34F-DAEF6E3E3A7A}"/>
              </a:ext>
            </a:extLst>
          </p:cNvPr>
          <p:cNvSpPr>
            <a:spLocks noGrp="1"/>
          </p:cNvSpPr>
          <p:nvPr/>
        </p:nvSpPr>
        <p:spPr>
          <a:xfrm>
            <a:off x="666750" y="3914775"/>
            <a:ext cx="10858500" cy="876300"/>
          </a:xfrm>
          <a:prstGeom prst="roundRect">
            <a:avLst>
              <a:gd name="adj" fmla="val 8696"/>
            </a:avLst>
          </a:prstGeom>
          <a:solidFill>
            <a:srgbClr val="FFFDF9"/>
          </a:solidFill>
          <a:ln w="9525">
            <a:solidFill>
              <a:srgbClr val="E5D4C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01466C-B2D9-4AA7-81A4-0D5F7A456774}"/>
              </a:ext>
            </a:extLst>
          </p:cNvPr>
          <p:cNvSpPr>
            <a:spLocks noGrp="1"/>
          </p:cNvSpPr>
          <p:nvPr/>
        </p:nvSpPr>
        <p:spPr>
          <a:xfrm>
            <a:off x="914400" y="418147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500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RM3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D293FD-E930-44CC-90E8-7A71420534D4}"/>
              </a:ext>
            </a:extLst>
          </p:cNvPr>
          <p:cNvSpPr>
            <a:spLocks noGrp="1"/>
          </p:cNvSpPr>
          <p:nvPr/>
        </p:nvSpPr>
        <p:spPr>
          <a:xfrm>
            <a:off x="1828800" y="4086225"/>
            <a:ext cx="2571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Memori jangka panjang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566606-BF03-4457-8D11-0B78E57FA9EF}"/>
              </a:ext>
            </a:extLst>
          </p:cNvPr>
          <p:cNvSpPr>
            <a:spLocks noGrp="1"/>
          </p:cNvSpPr>
          <p:nvPr/>
        </p:nvSpPr>
        <p:spPr>
          <a:xfrm>
            <a:off x="4495800" y="4086225"/>
            <a:ext cx="65246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00">
                <a:solidFill>
                  <a:srgbClr val="8A766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8A7667"/>
                </a:solidFill>
                <a:latin typeface="Arial"/>
                <a:ea typeface="Arial"/>
                <a:cs typeface="Arial"/>
              </a:rPr>
              <a:t>Fungsional dan indikatif: penulisan, retrieval, lifecycle, serta Recall@5 berjalan; dampak graf pada empati belum terbukti.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ACF7FB7-B8E1-40EC-BC02-B6429B2C270F}"/>
              </a:ext>
            </a:extLst>
          </p:cNvPr>
          <p:cNvSpPr>
            <a:spLocks noGrp="1"/>
          </p:cNvSpPr>
          <p:nvPr/>
        </p:nvSpPr>
        <p:spPr>
          <a:xfrm>
            <a:off x="666750" y="5314950"/>
            <a:ext cx="10858500" cy="619125"/>
          </a:xfrm>
          <a:prstGeom prst="roundRect">
            <a:avLst>
              <a:gd name="adj" fmla="val 12308"/>
            </a:avLst>
          </a:prstGeom>
          <a:solidFill>
            <a:srgbClr val="F0DFCF"/>
          </a:solidFill>
          <a:ln w="9525">
            <a:solidFill>
              <a:srgbClr val="F0DFC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333F47-9DD3-449F-96A2-B0F319F3D373}"/>
              </a:ext>
            </a:extLst>
          </p:cNvPr>
          <p:cNvSpPr>
            <a:spLocks noGrp="1"/>
          </p:cNvSpPr>
          <p:nvPr/>
        </p:nvSpPr>
        <p:spPr>
          <a:xfrm>
            <a:off x="895350" y="5514975"/>
            <a:ext cx="228600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12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Lanjutan menuju sidang akhir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02AA35-CE0C-4A19-A3B7-3F050EAA8666}"/>
              </a:ext>
            </a:extLst>
          </p:cNvPr>
          <p:cNvSpPr>
            <a:spLocks noGrp="1"/>
          </p:cNvSpPr>
          <p:nvPr/>
        </p:nvSpPr>
        <p:spPr>
          <a:xfrm>
            <a:off x="3238500" y="5476875"/>
            <a:ext cx="7810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l">
              <a:defRPr sz="1275">
                <a:solidFill>
                  <a:srgbClr val="2D211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2119"/>
                </a:solidFill>
                <a:latin typeface="Arial"/>
                <a:ea typeface="Arial"/>
                <a:cs typeface="Arial"/>
              </a:rPr>
              <a:t>Pengujian pengguna nyata, metrik latensi voice, serta penguatan benchmark bahasa informal dan eufemisme krisis.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E89F7C-8D01-4F7B-8EC1-F3D785D58316}"/>
              </a:ext>
            </a:extLst>
          </p:cNvPr>
          <p:cNvSpPr>
            <a:spLocks noGrp="1"/>
          </p:cNvSpPr>
          <p:nvPr/>
        </p:nvSpPr>
        <p:spPr>
          <a:xfrm>
            <a:off x="666750" y="612457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algn="ctr">
              <a:defRPr sz="1575">
                <a:solidFill>
                  <a:srgbClr val="4F34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F3424"/>
                </a:solidFill>
                <a:latin typeface="Arial"/>
                <a:ea typeface="Arial"/>
                <a:cs typeface="Arial"/>
              </a:rPr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1402760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1356</Words>
  <Application>Microsoft Macintosh PowerPoint</Application>
  <DocSecurity>0</DocSecurity>
  <PresentationFormat>Widescreen</PresentationFormat>
  <Paragraphs>278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Ekaa Prawira</cp:lastModifiedBy>
  <cp:revision>1</cp:revision>
  <dcterms:created xsi:type="dcterms:W3CDTF">2026-07-13T12:55:16Z</dcterms:created>
  <dcterms:modified xsi:type="dcterms:W3CDTF">2026-07-13T13:14:48Z</dcterms:modified>
</cp:coreProperties>
</file>